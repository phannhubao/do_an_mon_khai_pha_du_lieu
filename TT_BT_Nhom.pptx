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80" r:id="rId6"/>
    <p:sldId id="259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89" r:id="rId16"/>
    <p:sldId id="290" r:id="rId17"/>
    <p:sldId id="291" r:id="rId18"/>
    <p:sldId id="292" r:id="rId19"/>
    <p:sldId id="293" r:id="rId20"/>
    <p:sldId id="294" r:id="rId21"/>
    <p:sldId id="295" r:id="rId22"/>
    <p:sldId id="296" r:id="rId23"/>
    <p:sldId id="297" r:id="rId24"/>
    <p:sldId id="298" r:id="rId25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8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8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2" Type="http://schemas.openxmlformats.org/officeDocument/2006/relationships/slideLayout" Target="../slideLayouts/slideLayout7.xml"/><Relationship Id="rId21" Type="http://schemas.openxmlformats.org/officeDocument/2006/relationships/image" Target="../media/image1.png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.png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tags" Target="../tags/tag2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31.xml"/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3" Type="http://schemas.openxmlformats.org/officeDocument/2006/relationships/slideLayout" Target="../slideLayouts/slideLayout7.xml"/><Relationship Id="rId22" Type="http://schemas.openxmlformats.org/officeDocument/2006/relationships/image" Target="../media/image1.png"/><Relationship Id="rId21" Type="http://schemas.openxmlformats.org/officeDocument/2006/relationships/tags" Target="../tags/tag43.xml"/><Relationship Id="rId20" Type="http://schemas.openxmlformats.org/officeDocument/2006/relationships/tags" Target="../tags/tag42.xml"/><Relationship Id="rId2" Type="http://schemas.openxmlformats.org/officeDocument/2006/relationships/tags" Target="../tags/tag24.xml"/><Relationship Id="rId19" Type="http://schemas.openxmlformats.org/officeDocument/2006/relationships/tags" Target="../tags/tag41.xml"/><Relationship Id="rId18" Type="http://schemas.openxmlformats.org/officeDocument/2006/relationships/tags" Target="../tags/tag40.xml"/><Relationship Id="rId17" Type="http://schemas.openxmlformats.org/officeDocument/2006/relationships/tags" Target="../tags/tag39.xml"/><Relationship Id="rId16" Type="http://schemas.openxmlformats.org/officeDocument/2006/relationships/tags" Target="../tags/tag38.xml"/><Relationship Id="rId15" Type="http://schemas.openxmlformats.org/officeDocument/2006/relationships/tags" Target="../tags/tag37.xml"/><Relationship Id="rId14" Type="http://schemas.openxmlformats.org/officeDocument/2006/relationships/tags" Target="../tags/tag36.xml"/><Relationship Id="rId13" Type="http://schemas.openxmlformats.org/officeDocument/2006/relationships/tags" Target="../tags/tag35.xml"/><Relationship Id="rId12" Type="http://schemas.openxmlformats.org/officeDocument/2006/relationships/tags" Target="../tags/tag34.xml"/><Relationship Id="rId11" Type="http://schemas.openxmlformats.org/officeDocument/2006/relationships/tags" Target="../tags/tag33.xml"/><Relationship Id="rId10" Type="http://schemas.openxmlformats.org/officeDocument/2006/relationships/tags" Target="../tags/tag32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1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1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1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1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1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255905" y="150495"/>
            <a:ext cx="7139305" cy="6470015"/>
          </a:xfrm>
          <a:custGeom>
            <a:avLst/>
            <a:gdLst>
              <a:gd name="connsiteX0" fmla="*/ 11135 w 11243"/>
              <a:gd name="connsiteY0" fmla="*/ 10189 h 10189"/>
              <a:gd name="connsiteX1" fmla="*/ 11243 w 11243"/>
              <a:gd name="connsiteY1" fmla="*/ 0 h 10189"/>
              <a:gd name="connsiteX2" fmla="*/ 0 w 11243"/>
              <a:gd name="connsiteY2" fmla="*/ 10177 h 10189"/>
              <a:gd name="connsiteX3" fmla="*/ 11135 w 11243"/>
              <a:gd name="connsiteY3" fmla="*/ 10189 h 10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43" h="10189">
                <a:moveTo>
                  <a:pt x="11135" y="10189"/>
                </a:moveTo>
                <a:lnTo>
                  <a:pt x="11243" y="0"/>
                </a:lnTo>
                <a:lnTo>
                  <a:pt x="0" y="10177"/>
                </a:lnTo>
                <a:lnTo>
                  <a:pt x="11135" y="1018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7772400" y="0"/>
            <a:ext cx="4419295" cy="6858000"/>
          </a:xfrm>
          <a:prstGeom prst="rtTriangl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1053" y="2644775"/>
            <a:ext cx="10589260" cy="1568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D97706"/>
                </a:solidFill>
                <a:latin typeface="Calibri" panose="020F0502020204030204"/>
              </a:defRPr>
            </a:pPr>
            <a:r>
              <a:rPr sz="2400">
                <a:solidFill>
                  <a:schemeClr val="tx1"/>
                </a:solidFill>
              </a:rPr>
              <a:t>BÁO CÁO MÔN KHAI PHÁ DỮ LIỆU</a:t>
            </a:r>
            <a:endParaRPr sz="2400">
              <a:solidFill>
                <a:schemeClr val="tx1"/>
              </a:solidFill>
            </a:endParaRPr>
          </a:p>
          <a:p>
            <a:pPr algn="ctr">
              <a:defRPr sz="2800" b="1">
                <a:solidFill>
                  <a:srgbClr val="FFFFFF"/>
                </a:solidFill>
                <a:latin typeface="Calibri" panose="020F0502020204030204"/>
              </a:defRPr>
            </a:pPr>
            <a:br>
              <a:rPr sz="3600">
                <a:ln w="22225" cmpd="sng">
                  <a:solidFill>
                    <a:schemeClr val="tx1"/>
                  </a:solidFill>
                </a:ln>
                <a:solidFill>
                  <a:schemeClr val="tx2">
                    <a:lumMod val="75000"/>
                  </a:schemeClr>
                </a:solidFill>
              </a:rPr>
            </a:br>
            <a:r>
              <a:rPr sz="3600">
                <a:ln w="9525" cmpd="sng"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tx2">
                    <a:lumMod val="75000"/>
                  </a:schemeClr>
                </a:solidFill>
              </a:rPr>
              <a:t>PHÂN LOẠI UNG THƯ PHỔI</a:t>
            </a:r>
            <a:r>
              <a:rPr lang="en-US" sz="3600">
                <a:ln w="9525" cmpd="sng"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sz="3600">
                <a:ln w="9525" cmpd="sng"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tx2">
                    <a:lumMod val="75000"/>
                  </a:schemeClr>
                </a:solidFill>
                <a:sym typeface="+mn-ea"/>
              </a:rPr>
              <a:t>VÀ</a:t>
            </a:r>
            <a:r>
              <a:rPr lang="en-US" sz="3600">
                <a:ln w="9525" cmpd="sng"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sz="3600">
                <a:ln w="9525" cmpd="sng"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tx2">
                    <a:lumMod val="75000"/>
                  </a:schemeClr>
                </a:solidFill>
                <a:sym typeface="+mn-ea"/>
              </a:rPr>
              <a:t>KHOANH VÙNG KHỐI U </a:t>
            </a:r>
            <a:endParaRPr lang="en-US" sz="3600">
              <a:ln w="9525" cmpd="sng">
                <a:solidFill>
                  <a:schemeClr val="bg1">
                    <a:lumMod val="95000"/>
                  </a:schemeClr>
                </a:solidFill>
              </a:ln>
              <a:solidFill>
                <a:schemeClr val="tx2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7386320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E2E8F0"/>
                </a:solidFill>
                <a:latin typeface="Calibri" panose="020F0502020204030204"/>
              </a:defRPr>
            </a:pPr>
            <a:r>
              <a:rPr sz="2000">
                <a:solidFill>
                  <a:schemeClr val="tx1"/>
                </a:solidFill>
              </a:rPr>
              <a:t>Giảng viên hướng dẫn: ThS. Vũ Thị Hạnh</a:t>
            </a:r>
            <a:br>
              <a:rPr sz="2000">
                <a:solidFill>
                  <a:schemeClr val="tx1"/>
                </a:solidFill>
              </a:rPr>
            </a:br>
            <a:r>
              <a:rPr sz="2000">
                <a:solidFill>
                  <a:schemeClr val="tx1"/>
                </a:solidFill>
              </a:rPr>
              <a:t>Nhóm thực hiện: Nhóm 1</a:t>
            </a:r>
            <a:br>
              <a:rPr sz="2000">
                <a:solidFill>
                  <a:schemeClr val="tx1"/>
                </a:solidFill>
              </a:rPr>
            </a:br>
            <a:r>
              <a:rPr sz="2000">
                <a:solidFill>
                  <a:schemeClr val="tx1"/>
                </a:solidFill>
              </a:rPr>
              <a:t>Sinh viên: Nguyễn Ngọc Châu Giang | Hứa Khánh Duy</a:t>
            </a:r>
            <a:r>
              <a:rPr lang="en-US" sz="2000">
                <a:solidFill>
                  <a:schemeClr val="tx1"/>
                </a:solidFill>
              </a:rPr>
              <a:t> </a:t>
            </a:r>
            <a:r>
              <a:rPr sz="2000">
                <a:solidFill>
                  <a:schemeClr val="tx1"/>
                </a:solidFill>
              </a:rPr>
              <a:t>| Phan Như Bảo</a:t>
            </a:r>
            <a:endParaRPr sz="2000">
              <a:solidFill>
                <a:schemeClr val="tx1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085" y="532765"/>
            <a:ext cx="4997450" cy="16414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900"/>
    </mc:Choice>
    <mc:Fallback>
      <p:transition spd="med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!!header_bar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accent_line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header_title"/>
          <p:cNvSpPr txBox="1"/>
          <p:nvPr/>
        </p:nvSpPr>
        <p:spPr>
          <a:xfrm>
            <a:off x="1097280" y="311150"/>
            <a:ext cx="406844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 panose="020F0502020204030204"/>
              </a:defRPr>
            </a:pPr>
            <a:r>
              <a:rPr lang="en-US" sz="2400"/>
              <a:t>Nội dung đề tài</a:t>
            </a:r>
            <a:endParaRPr lang="en-US" sz="2400"/>
          </a:p>
        </p:txBody>
      </p:sp>
      <p:grpSp>
        <p:nvGrpSpPr>
          <p:cNvPr id="24" name="Group 23"/>
          <p:cNvGrpSpPr/>
          <p:nvPr>
            <p:custDataLst>
              <p:tags r:id="rId1"/>
            </p:custDataLst>
          </p:nvPr>
        </p:nvGrpSpPr>
        <p:grpSpPr>
          <a:xfrm>
            <a:off x="1097280" y="1353185"/>
            <a:ext cx="9997440" cy="868680"/>
            <a:chOff x="1728" y="2304"/>
            <a:chExt cx="15744" cy="1368"/>
          </a:xfrm>
        </p:grpSpPr>
        <p:sp>
          <p:nvSpPr>
            <p:cNvPr id="6" name="Rounded Rectangle 5"/>
            <p:cNvSpPr/>
            <p:nvPr>
              <p:custDataLst>
                <p:tags r:id="rId2"/>
              </p:custDataLst>
            </p:nvPr>
          </p:nvSpPr>
          <p:spPr>
            <a:xfrm>
              <a:off x="1728" y="2304"/>
              <a:ext cx="15744" cy="1368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>
              <p:custDataLst>
                <p:tags r:id="rId3"/>
              </p:custDataLst>
            </p:nvPr>
          </p:nvSpPr>
          <p:spPr>
            <a:xfrm>
              <a:off x="2031" y="2520"/>
              <a:ext cx="1296" cy="936"/>
            </a:xfrm>
            <a:prstGeom prst="roundRect">
              <a:avLst/>
            </a:prstGeom>
            <a:solidFill>
              <a:srgbClr val="0F2C5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800" b="1">
                  <a:solidFill>
                    <a:srgbClr val="0EA5E9"/>
                  </a:solidFill>
                </a:defRPr>
              </a:pPr>
              <a:r>
                <a:t>01</a:t>
              </a:r>
            </a:p>
          </p:txBody>
        </p:sp>
        <p:sp>
          <p:nvSpPr>
            <p:cNvPr id="8" name="TextBox 7"/>
            <p:cNvSpPr txBox="1"/>
            <p:nvPr>
              <p:custDataLst>
                <p:tags r:id="rId4"/>
              </p:custDataLst>
            </p:nvPr>
          </p:nvSpPr>
          <p:spPr>
            <a:xfrm>
              <a:off x="3615" y="2477"/>
              <a:ext cx="13837" cy="10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600" b="1">
                  <a:solidFill>
                    <a:srgbClr val="0F2C59"/>
                  </a:solidFill>
                </a:defRPr>
              </a:pPr>
              <a:r>
                <a:rPr sz="2000"/>
                <a:t>Bối Cảnh &amp; Đặt Vấn Đề</a:t>
              </a:r>
              <a:endParaRPr sz="2000"/>
            </a:p>
            <a:p>
              <a:pPr>
                <a:defRPr sz="1200">
                  <a:solidFill>
                    <a:srgbClr val="64748B"/>
                  </a:solidFill>
                </a:defRPr>
              </a:pPr>
              <a:r>
                <a:rPr sz="1800" i="1"/>
                <a:t>Thách thức đọc CT thủ công, nguy cơ bỏ sót u ác tính và giải pháp AI</a:t>
              </a:r>
              <a:endParaRPr sz="1800" i="1"/>
            </a:p>
          </p:txBody>
        </p:sp>
      </p:grpSp>
      <p:grpSp>
        <p:nvGrpSpPr>
          <p:cNvPr id="25" name="Group 24"/>
          <p:cNvGrpSpPr/>
          <p:nvPr>
            <p:custDataLst>
              <p:tags r:id="rId5"/>
            </p:custDataLst>
          </p:nvPr>
        </p:nvGrpSpPr>
        <p:grpSpPr>
          <a:xfrm>
            <a:off x="1097280" y="2475230"/>
            <a:ext cx="10018395" cy="868680"/>
            <a:chOff x="1728" y="3888"/>
            <a:chExt cx="15777" cy="1368"/>
          </a:xfrm>
        </p:grpSpPr>
        <p:sp>
          <p:nvSpPr>
            <p:cNvPr id="9" name="Rounded Rectangle 8"/>
            <p:cNvSpPr/>
            <p:nvPr>
              <p:custDataLst>
                <p:tags r:id="rId6"/>
              </p:custDataLst>
            </p:nvPr>
          </p:nvSpPr>
          <p:spPr>
            <a:xfrm>
              <a:off x="1728" y="3888"/>
              <a:ext cx="15744" cy="1368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ounded Rectangle 9"/>
            <p:cNvSpPr/>
            <p:nvPr>
              <p:custDataLst>
                <p:tags r:id="rId7"/>
              </p:custDataLst>
            </p:nvPr>
          </p:nvSpPr>
          <p:spPr>
            <a:xfrm>
              <a:off x="2031" y="4104"/>
              <a:ext cx="1296" cy="936"/>
            </a:xfrm>
            <a:prstGeom prst="roundRect">
              <a:avLst/>
            </a:prstGeom>
            <a:solidFill>
              <a:srgbClr val="0F2C5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800" b="1">
                  <a:solidFill>
                    <a:srgbClr val="0EA5E9"/>
                  </a:solidFill>
                </a:defRPr>
              </a:pPr>
              <a:r>
                <a:t>02</a:t>
              </a:r>
            </a:p>
          </p:txBody>
        </p:sp>
        <p:sp>
          <p:nvSpPr>
            <p:cNvPr id="11" name="TextBox 10"/>
            <p:cNvSpPr txBox="1"/>
            <p:nvPr>
              <p:custDataLst>
                <p:tags r:id="rId8"/>
              </p:custDataLst>
            </p:nvPr>
          </p:nvSpPr>
          <p:spPr>
            <a:xfrm>
              <a:off x="3615" y="4061"/>
              <a:ext cx="13891" cy="10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600" b="1">
                  <a:solidFill>
                    <a:srgbClr val="0F2C59"/>
                  </a:solidFill>
                </a:defRPr>
              </a:pPr>
              <a:r>
                <a:rPr sz="2000"/>
                <a:t>Khám Phá Dữ Liệu LIDC-IDRI</a:t>
              </a:r>
              <a:endParaRPr sz="2000"/>
            </a:p>
            <a:p>
              <a:pPr>
                <a:defRPr sz="1200">
                  <a:solidFill>
                    <a:srgbClr val="64748B"/>
                  </a:solidFill>
                </a:defRPr>
              </a:pPr>
              <a:r>
                <a:rPr sz="1800" i="1"/>
                <a:t>Cấu trúc ảnh CT 2.5D, phân tích 4 Hotspots và phân bố giải phẫu</a:t>
              </a:r>
              <a:endParaRPr sz="1800" i="1"/>
            </a:p>
          </p:txBody>
        </p:sp>
      </p:grpSp>
      <p:grpSp>
        <p:nvGrpSpPr>
          <p:cNvPr id="27" name="Group 26"/>
          <p:cNvGrpSpPr/>
          <p:nvPr>
            <p:custDataLst>
              <p:tags r:id="rId9"/>
            </p:custDataLst>
          </p:nvPr>
        </p:nvGrpSpPr>
        <p:grpSpPr>
          <a:xfrm>
            <a:off x="1097280" y="3543300"/>
            <a:ext cx="9997440" cy="868680"/>
            <a:chOff x="1728" y="5472"/>
            <a:chExt cx="15744" cy="1368"/>
          </a:xfrm>
        </p:grpSpPr>
        <p:sp>
          <p:nvSpPr>
            <p:cNvPr id="12" name="Rounded Rectangle 11"/>
            <p:cNvSpPr/>
            <p:nvPr>
              <p:custDataLst>
                <p:tags r:id="rId10"/>
              </p:custDataLst>
            </p:nvPr>
          </p:nvSpPr>
          <p:spPr>
            <a:xfrm>
              <a:off x="1728" y="5472"/>
              <a:ext cx="15744" cy="1368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>
              <p:custDataLst>
                <p:tags r:id="rId11"/>
              </p:custDataLst>
            </p:nvPr>
          </p:nvSpPr>
          <p:spPr>
            <a:xfrm>
              <a:off x="2031" y="5688"/>
              <a:ext cx="1296" cy="936"/>
            </a:xfrm>
            <a:prstGeom prst="roundRect">
              <a:avLst/>
            </a:prstGeom>
            <a:solidFill>
              <a:srgbClr val="0F2C5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800" b="1">
                  <a:solidFill>
                    <a:srgbClr val="0EA5E9"/>
                  </a:solidFill>
                </a:defRPr>
              </a:pPr>
              <a:r>
                <a:t>03</a:t>
              </a:r>
            </a:p>
          </p:txBody>
        </p:sp>
        <p:sp>
          <p:nvSpPr>
            <p:cNvPr id="14" name="TextBox 13"/>
            <p:cNvSpPr txBox="1"/>
            <p:nvPr>
              <p:custDataLst>
                <p:tags r:id="rId12"/>
              </p:custDataLst>
            </p:nvPr>
          </p:nvSpPr>
          <p:spPr>
            <a:xfrm>
              <a:off x="3615" y="5645"/>
              <a:ext cx="10765" cy="10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600" b="1">
                  <a:solidFill>
                    <a:srgbClr val="0F2C59"/>
                  </a:solidFill>
                </a:defRPr>
              </a:pPr>
              <a:r>
                <a:rPr sz="2000"/>
                <a:t>Tiền Xử Lý Dữ Liệu Đa Tầng</a:t>
              </a:r>
              <a:endParaRPr sz="2000"/>
            </a:p>
            <a:p>
              <a:pPr>
                <a:defRPr sz="1200">
                  <a:solidFill>
                    <a:srgbClr val="64748B"/>
                  </a:solidFill>
                </a:defRPr>
              </a:pPr>
              <a:r>
                <a:rPr sz="1800" i="1"/>
                <a:t>Hiệu chuẩn HU, Tri-Window, CLAHE, Unsharp, Gom cụm &amp; 56 Radiomics</a:t>
              </a:r>
              <a:endParaRPr sz="1800" i="1"/>
            </a:p>
          </p:txBody>
        </p:sp>
      </p:grpSp>
      <p:grpSp>
        <p:nvGrpSpPr>
          <p:cNvPr id="26" name="Group 25"/>
          <p:cNvGrpSpPr/>
          <p:nvPr>
            <p:custDataLst>
              <p:tags r:id="rId13"/>
            </p:custDataLst>
          </p:nvPr>
        </p:nvGrpSpPr>
        <p:grpSpPr>
          <a:xfrm>
            <a:off x="1118870" y="4700905"/>
            <a:ext cx="9997440" cy="868680"/>
            <a:chOff x="1728" y="7056"/>
            <a:chExt cx="15744" cy="1368"/>
          </a:xfrm>
        </p:grpSpPr>
        <p:sp>
          <p:nvSpPr>
            <p:cNvPr id="15" name="Rounded Rectangle 14"/>
            <p:cNvSpPr/>
            <p:nvPr>
              <p:custDataLst>
                <p:tags r:id="rId14"/>
              </p:custDataLst>
            </p:nvPr>
          </p:nvSpPr>
          <p:spPr>
            <a:xfrm>
              <a:off x="1728" y="7056"/>
              <a:ext cx="15744" cy="1368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ounded Rectangle 15"/>
            <p:cNvSpPr/>
            <p:nvPr>
              <p:custDataLst>
                <p:tags r:id="rId15"/>
              </p:custDataLst>
            </p:nvPr>
          </p:nvSpPr>
          <p:spPr>
            <a:xfrm>
              <a:off x="2031" y="7272"/>
              <a:ext cx="1296" cy="936"/>
            </a:xfrm>
            <a:prstGeom prst="roundRect">
              <a:avLst/>
            </a:prstGeom>
            <a:solidFill>
              <a:srgbClr val="0F2C5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800" b="1">
                  <a:solidFill>
                    <a:srgbClr val="0EA5E9"/>
                  </a:solidFill>
                </a:defRPr>
              </a:pPr>
              <a:r>
                <a:t>04</a:t>
              </a:r>
            </a:p>
          </p:txBody>
        </p:sp>
        <p:sp>
          <p:nvSpPr>
            <p:cNvPr id="17" name="TextBox 16"/>
            <p:cNvSpPr txBox="1"/>
            <p:nvPr>
              <p:custDataLst>
                <p:tags r:id="rId16"/>
              </p:custDataLst>
            </p:nvPr>
          </p:nvSpPr>
          <p:spPr>
            <a:xfrm>
              <a:off x="3615" y="7229"/>
              <a:ext cx="11489" cy="10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600" b="1">
                  <a:solidFill>
                    <a:srgbClr val="0F2C59"/>
                  </a:solidFill>
                </a:defRPr>
              </a:pPr>
              <a:r>
                <a:rPr sz="2000"/>
                <a:t>Kiến Trúc Mô Hình SOTA Lai</a:t>
              </a:r>
              <a:endParaRPr sz="2000"/>
            </a:p>
            <a:p>
              <a:pPr>
                <a:defRPr sz="1200">
                  <a:solidFill>
                    <a:srgbClr val="64748B"/>
                  </a:solidFill>
                </a:defRPr>
              </a:pPr>
              <a:r>
                <a:rPr sz="1800" i="1"/>
                <a:t>JointSegGatedDenseNet-121, CBAM, Cross-Modal Gate, Radiomics Ensemble</a:t>
              </a:r>
              <a:endParaRPr sz="1800" i="1"/>
            </a:p>
          </p:txBody>
        </p:sp>
      </p:grpSp>
      <p:grpSp>
        <p:nvGrpSpPr>
          <p:cNvPr id="22" name="Group 21"/>
          <p:cNvGrpSpPr/>
          <p:nvPr>
            <p:custDataLst>
              <p:tags r:id="rId17"/>
            </p:custDataLst>
          </p:nvPr>
        </p:nvGrpSpPr>
        <p:grpSpPr>
          <a:xfrm>
            <a:off x="1097280" y="5783580"/>
            <a:ext cx="9997440" cy="868680"/>
            <a:chOff x="1728" y="8640"/>
            <a:chExt cx="15744" cy="1368"/>
          </a:xfrm>
        </p:grpSpPr>
        <p:sp>
          <p:nvSpPr>
            <p:cNvPr id="18" name="Rounded Rectangle 17"/>
            <p:cNvSpPr/>
            <p:nvPr>
              <p:custDataLst>
                <p:tags r:id="rId18"/>
              </p:custDataLst>
            </p:nvPr>
          </p:nvSpPr>
          <p:spPr>
            <a:xfrm>
              <a:off x="1728" y="8640"/>
              <a:ext cx="15744" cy="1368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>
              <p:custDataLst>
                <p:tags r:id="rId19"/>
              </p:custDataLst>
            </p:nvPr>
          </p:nvSpPr>
          <p:spPr>
            <a:xfrm>
              <a:off x="2031" y="8856"/>
              <a:ext cx="1296" cy="936"/>
            </a:xfrm>
            <a:prstGeom prst="roundRect">
              <a:avLst/>
            </a:prstGeom>
            <a:solidFill>
              <a:srgbClr val="0F2C5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800" b="1">
                  <a:solidFill>
                    <a:srgbClr val="0EA5E9"/>
                  </a:solidFill>
                </a:defRPr>
              </a:pPr>
              <a:r>
                <a:t>05</a:t>
              </a:r>
            </a:p>
          </p:txBody>
        </p:sp>
        <p:sp>
          <p:nvSpPr>
            <p:cNvPr id="20" name="TextBox 19"/>
            <p:cNvSpPr txBox="1"/>
            <p:nvPr>
              <p:custDataLst>
                <p:tags r:id="rId20"/>
              </p:custDataLst>
            </p:nvPr>
          </p:nvSpPr>
          <p:spPr>
            <a:xfrm>
              <a:off x="3615" y="8813"/>
              <a:ext cx="10823" cy="10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600" b="1">
                  <a:solidFill>
                    <a:srgbClr val="0F2C59"/>
                  </a:solidFill>
                </a:defRPr>
              </a:pPr>
              <a:r>
                <a:rPr sz="2000"/>
                <a:t>Kết Quả Thực Nghiệm &amp; Đánh Giá</a:t>
              </a:r>
              <a:endParaRPr sz="2000"/>
            </a:p>
            <a:p>
              <a:pPr>
                <a:defRPr sz="1200">
                  <a:solidFill>
                    <a:srgbClr val="64748B"/>
                  </a:solidFill>
                </a:defRPr>
              </a:pPr>
              <a:r>
                <a:rPr sz="1800" i="1"/>
                <a:t>Độ nhạy 95.43%, FNR 4.57%, Dice 81.95%, AUC 0.9827, thảo luận y khoa</a:t>
              </a:r>
              <a:endParaRPr sz="1800" i="1"/>
            </a:p>
          </p:txBody>
        </p:sp>
      </p:grpSp>
      <p:pic>
        <p:nvPicPr>
          <p:cNvPr id="21" name="!!header_logo"/>
          <p:cNvPicPr>
            <a:picLocks noChangeAspect="1"/>
          </p:cNvPicPr>
          <p:nvPr/>
        </p:nvPicPr>
        <p:blipFill>
          <a:blip r:embed="rId21"/>
          <a:srcRect r="70407"/>
          <a:stretch>
            <a:fillRect/>
          </a:stretch>
        </p:blipFill>
        <p:spPr>
          <a:xfrm>
            <a:off x="184785" y="77470"/>
            <a:ext cx="807720" cy="8966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900"/>
    </mc:Choice>
    <mc:Fallback>
      <p:transition spd="med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!!header_bar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accent_line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card_1"/>
          <p:cNvSpPr/>
          <p:nvPr/>
        </p:nvSpPr>
        <p:spPr>
          <a:xfrm>
            <a:off x="548640" y="1325880"/>
            <a:ext cx="594360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card_title_1"/>
          <p:cNvSpPr txBox="1"/>
          <p:nvPr/>
        </p:nvSpPr>
        <p:spPr>
          <a:xfrm>
            <a:off x="777240" y="1481328"/>
            <a:ext cx="54864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C59"/>
                </a:solidFill>
                <a:latin typeface="Calibri" panose="020F0502020204030204"/>
              </a:defRPr>
            </a:pPr>
            <a:r>
              <a:rPr sz="2400"/>
              <a:t>Thách Thức Đọc Phim CT Truyền Thống</a:t>
            </a:r>
            <a:endParaRPr sz="2400"/>
          </a:p>
        </p:txBody>
      </p:sp>
      <p:sp>
        <p:nvSpPr>
          <p:cNvPr id="8" name="!!card_body_1"/>
          <p:cNvSpPr txBox="1"/>
          <p:nvPr/>
        </p:nvSpPr>
        <p:spPr>
          <a:xfrm>
            <a:off x="777240" y="2057400"/>
            <a:ext cx="5486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1900" b="1">
                <a:solidFill>
                  <a:srgbClr val="0F2C59"/>
                </a:solidFill>
                <a:latin typeface="Calibri" panose="020F0502020204030204"/>
              </a:rPr>
              <a:t>• Gánh nặng tử vong số 1:</a:t>
            </a:r>
            <a:r>
              <a:rPr sz="1900">
                <a:solidFill>
                  <a:srgbClr val="1E293B"/>
                </a:solidFill>
                <a:latin typeface="Calibri" panose="020F0502020204030204"/>
              </a:rPr>
              <a:t> Phát hiện sớm (nốt &lt; 30mm) giúp tăng sống sót sau 5 năm từ &lt;15% lên &gt;70%.</a:t>
            </a:r>
            <a:endParaRPr sz="2000">
              <a:solidFill>
                <a:srgbClr val="1E293B"/>
              </a:solidFill>
            </a:endParaRP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0F2C59"/>
                </a:solidFill>
                <a:latin typeface="Calibri" panose="020F0502020204030204"/>
              </a:rPr>
              <a:t>• Quá tải đọc phim thủ công:</a:t>
            </a:r>
            <a:r>
              <a:rPr sz="1900">
                <a:solidFill>
                  <a:srgbClr val="1E293B"/>
                </a:solidFill>
                <a:latin typeface="Calibri" panose="020F0502020204030204"/>
              </a:rPr>
              <a:t> 300 – 600 lát cắt/bệnh nhân gây mỏi mắt và áp lực thời gian lớn.</a:t>
            </a:r>
            <a:endParaRPr sz="1900">
              <a:solidFill>
                <a:srgbClr val="1E293B"/>
              </a:solidFill>
              <a:latin typeface="Calibri" panose="020F0502020204030204"/>
            </a:endParaRP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0F2C59"/>
                </a:solidFill>
                <a:latin typeface="Calibri" panose="020F0502020204030204"/>
              </a:rPr>
              <a:t>• Bất đồng giữa các bác sĩ:</a:t>
            </a:r>
            <a:r>
              <a:rPr sz="1900">
                <a:solidFill>
                  <a:srgbClr val="1E293B"/>
                </a:solidFill>
                <a:latin typeface="Calibri" panose="020F0502020204030204"/>
              </a:rPr>
              <a:t> Tối đa 4 bác sĩ khoanh độc lập có ranh giới u và điểm chấm lệch nhau.</a:t>
            </a:r>
            <a:endParaRPr sz="1900">
              <a:solidFill>
                <a:srgbClr val="1E293B"/>
              </a:solidFill>
              <a:latin typeface="Calibri" panose="020F0502020204030204"/>
            </a:endParaRP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E11D48"/>
                </a:solidFill>
                <a:latin typeface="Calibri" panose="020F0502020204030204"/>
              </a:rPr>
              <a:t>• Nguy hiểm khi bỏ sót (FN):</a:t>
            </a:r>
            <a:r>
              <a:rPr sz="1900">
                <a:solidFill>
                  <a:srgbClr val="1E293B"/>
                </a:solidFill>
                <a:latin typeface="Calibri" panose="020F0502020204030204"/>
              </a:rPr>
              <a:t> Bỏ sót nốt ác tính làm mất 'thời gian vàng' điều trị của bệnh nhân.</a:t>
            </a:r>
            <a:endParaRPr sz="1900">
              <a:solidFill>
                <a:srgbClr val="1E293B"/>
              </a:solidFill>
              <a:latin typeface="Calibri" panose="020F0502020204030204"/>
            </a:endParaRPr>
          </a:p>
        </p:txBody>
      </p:sp>
      <p:pic>
        <p:nvPicPr>
          <p:cNvPr id="21" name="!!header_logo"/>
          <p:cNvPicPr>
            <a:picLocks noChangeAspect="1"/>
          </p:cNvPicPr>
          <p:nvPr/>
        </p:nvPicPr>
        <p:blipFill>
          <a:blip r:embed="rId1"/>
          <a:srcRect r="70407"/>
          <a:stretch>
            <a:fillRect/>
          </a:stretch>
        </p:blipFill>
        <p:spPr>
          <a:xfrm>
            <a:off x="184785" y="77470"/>
            <a:ext cx="807720" cy="896620"/>
          </a:xfrm>
          <a:prstGeom prst="rect">
            <a:avLst/>
          </a:prstGeom>
        </p:spPr>
      </p:pic>
      <p:sp>
        <p:nvSpPr>
          <p:cNvPr id="12" name="!!header_title"/>
          <p:cNvSpPr txBox="1"/>
          <p:nvPr/>
        </p:nvSpPr>
        <p:spPr>
          <a:xfrm>
            <a:off x="1097280" y="311150"/>
            <a:ext cx="406844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 panose="020F0502020204030204"/>
              </a:defRPr>
            </a:pPr>
            <a:r>
              <a:rPr lang="en-US" sz="2400"/>
              <a:t>1. BỐI CẢNH &amp; ĐẶT VẤN ĐỀ</a:t>
            </a:r>
            <a:endParaRPr lang="en-US" sz="2400"/>
          </a:p>
        </p:txBody>
      </p:sp>
      <p:pic>
        <p:nvPicPr>
          <p:cNvPr id="22" name="!!hero_visual" descr="illus_ct_challe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852613"/>
            <a:ext cx="4937760" cy="40671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900"/>
    </mc:Choice>
    <mc:Fallback>
      <p:transition spd="med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!!header_bar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accent_line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card_1"/>
          <p:cNvSpPr/>
          <p:nvPr>
            <p:custDataLst>
              <p:tags r:id="rId1"/>
            </p:custDataLst>
          </p:nvPr>
        </p:nvSpPr>
        <p:spPr>
          <a:xfrm>
            <a:off x="5669280" y="1325880"/>
            <a:ext cx="594360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card_title_1"/>
          <p:cNvSpPr txBox="1"/>
          <p:nvPr>
            <p:custDataLst>
              <p:tags r:id="rId2"/>
            </p:custDataLst>
          </p:nvPr>
        </p:nvSpPr>
        <p:spPr>
          <a:xfrm>
            <a:off x="5897880" y="1481328"/>
            <a:ext cx="54864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C59"/>
                </a:solidFill>
                <a:latin typeface="Calibri" panose="020F0502020204030204"/>
              </a:defRPr>
            </a:pPr>
            <a:r>
              <a:rPr sz="2400"/>
              <a:t>Vai Trò Của AI Đa Tác Vụ Trong Chẩn Đoán</a:t>
            </a:r>
            <a:endParaRPr sz="2400"/>
          </a:p>
        </p:txBody>
      </p:sp>
      <p:sp>
        <p:nvSpPr>
          <p:cNvPr id="11" name="!!card_body_1"/>
          <p:cNvSpPr txBox="1"/>
          <p:nvPr>
            <p:custDataLst>
              <p:tags r:id="rId3"/>
            </p:custDataLst>
          </p:nvPr>
        </p:nvSpPr>
        <p:spPr>
          <a:xfrm>
            <a:off x="5897880" y="2057400"/>
            <a:ext cx="5486400" cy="4206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1900" b="1">
                <a:solidFill>
                  <a:srgbClr val="0EA5E9"/>
                </a:solidFill>
                <a:latin typeface="Calibri" panose="020F0502020204030204"/>
              </a:rPr>
              <a:t>✔ Khoanh vùng tự động:</a:t>
            </a:r>
            <a:r>
              <a:rPr sz="1900">
                <a:solidFill>
                  <a:srgbClr val="1E293B"/>
                </a:solidFill>
                <a:latin typeface="Calibri" panose="020F0502020204030204"/>
              </a:rPr>
              <a:t> Xác định chính xác ranh giới khối u từng pixel, thay thế vẽ tay.</a:t>
            </a:r>
            <a:endParaRPr sz="2000">
              <a:solidFill>
                <a:srgbClr val="1E293B"/>
              </a:solidFill>
            </a:endParaRP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0EA5E9"/>
                </a:solidFill>
                <a:latin typeface="Calibri" panose="020F0502020204030204"/>
              </a:rPr>
              <a:t>✔ Chẩn đoán tức thì &amp; Nhất quán:</a:t>
            </a:r>
            <a:r>
              <a:rPr sz="1900">
                <a:solidFill>
                  <a:srgbClr val="1E293B"/>
                </a:solidFill>
                <a:latin typeface="Calibri" panose="020F0502020204030204"/>
              </a:rPr>
              <a:t> Phân loại lành / ác tính trong vài mili-giây với độ ổn định 100%.</a:t>
            </a:r>
            <a:endParaRPr sz="1900">
              <a:solidFill>
                <a:srgbClr val="1E293B"/>
              </a:solidFill>
              <a:latin typeface="Calibri" panose="020F0502020204030204"/>
            </a:endParaRP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0EA5E9"/>
                </a:solidFill>
                <a:latin typeface="Calibri" panose="020F0502020204030204"/>
              </a:rPr>
              <a:t>✔ Hỗ trợ 'Ý kiến thứ hai':</a:t>
            </a:r>
            <a:r>
              <a:rPr sz="1900">
                <a:solidFill>
                  <a:srgbClr val="1E293B"/>
                </a:solidFill>
                <a:latin typeface="Calibri" panose="020F0502020204030204"/>
              </a:rPr>
              <a:t> Cảnh báo sớm các nốt ác tính nghi ngờ, giảm tối đa nguy cơ bỏ sót.</a:t>
            </a:r>
            <a:endParaRPr sz="1900">
              <a:solidFill>
                <a:srgbClr val="1E293B"/>
              </a:solidFill>
              <a:latin typeface="Calibri" panose="020F0502020204030204"/>
            </a:endParaRP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10B981"/>
                </a:solidFill>
                <a:latin typeface="Calibri" panose="020F0502020204030204"/>
              </a:rPr>
              <a:t>✔ Học đa tác vụ (Multi-task):</a:t>
            </a:r>
            <a:r>
              <a:rPr sz="1900">
                <a:solidFill>
                  <a:srgbClr val="1E293B"/>
                </a:solidFill>
                <a:latin typeface="Calibri" panose="020F0502020204030204"/>
              </a:rPr>
              <a:t> Biết ranh giới u giúp mạng tập trung phân tích đúng lòng khối u.</a:t>
            </a:r>
            <a:endParaRPr sz="1900">
              <a:solidFill>
                <a:srgbClr val="1E293B"/>
              </a:solidFill>
              <a:latin typeface="Calibri" panose="020F0502020204030204"/>
            </a:endParaRPr>
          </a:p>
        </p:txBody>
      </p:sp>
      <p:pic>
        <p:nvPicPr>
          <p:cNvPr id="21" name="!!header_logo"/>
          <p:cNvPicPr>
            <a:picLocks noChangeAspect="1"/>
          </p:cNvPicPr>
          <p:nvPr/>
        </p:nvPicPr>
        <p:blipFill>
          <a:blip r:embed="rId4"/>
          <a:srcRect r="70407"/>
          <a:stretch>
            <a:fillRect/>
          </a:stretch>
        </p:blipFill>
        <p:spPr>
          <a:xfrm>
            <a:off x="184785" y="77470"/>
            <a:ext cx="807720" cy="896620"/>
          </a:xfrm>
          <a:prstGeom prst="rect">
            <a:avLst/>
          </a:prstGeom>
        </p:spPr>
      </p:pic>
      <p:sp>
        <p:nvSpPr>
          <p:cNvPr id="12" name="!!header_title"/>
          <p:cNvSpPr txBox="1"/>
          <p:nvPr/>
        </p:nvSpPr>
        <p:spPr>
          <a:xfrm>
            <a:off x="1097280" y="311150"/>
            <a:ext cx="406844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 panose="020F0502020204030204"/>
              </a:defRPr>
            </a:pPr>
            <a:r>
              <a:rPr lang="en-US" sz="2400"/>
              <a:t>1. BỐI CẢNH &amp; ĐẶT VẤN ĐỀ</a:t>
            </a:r>
            <a:endParaRPr lang="en-US" sz="2400"/>
          </a:p>
        </p:txBody>
      </p:sp>
      <p:pic>
        <p:nvPicPr>
          <p:cNvPr id="22" name="!!hero_visual" descr="illus_ai_multitask_ro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500901"/>
            <a:ext cx="4937760" cy="47705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900"/>
    </mc:Choice>
    <mc:Fallback>
      <p:transition spd="med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!!header_bar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accent_line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card_1"/>
          <p:cNvSpPr/>
          <p:nvPr/>
        </p:nvSpPr>
        <p:spPr>
          <a:xfrm>
            <a:off x="731520" y="1463040"/>
            <a:ext cx="347472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5805" y="1600200"/>
            <a:ext cx="3479800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F2C59"/>
                </a:solidFill>
                <a:latin typeface="Calibri" panose="020F0502020204030204"/>
              </a:defRPr>
            </a:pPr>
            <a:r>
              <a:rPr sz="2000"/>
              <a:t>Chuẩn Hóa HU &amp; Tiền Xử Lý Đa Tầng</a:t>
            </a:r>
            <a:endParaRPr sz="2400"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347472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0725" y="2446655"/>
            <a:ext cx="3486150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rPr sz="1700"/>
              <a:t>Chuyển đổi DICOM sang thang đo Hounsfield</a:t>
            </a:r>
            <a:r>
              <a:rPr lang="en-US" sz="1700"/>
              <a:t>.</a:t>
            </a:r>
            <a:endParaRPr sz="2000"/>
          </a:p>
          <a:p>
            <a:pPr>
              <a:defRPr sz="1200">
                <a:solidFill>
                  <a:srgbClr val="1E293B"/>
                </a:solidFill>
              </a:defRPr>
            </a:pPr>
            <a:r>
              <a:rPr lang="en-US" sz="1700"/>
              <a:t>K</a:t>
            </a:r>
            <a:r>
              <a:rPr sz="1700"/>
              <a:t>ết hợp 3 cửa sổ y khoa</a:t>
            </a:r>
            <a:r>
              <a:rPr lang="en-US" sz="1700"/>
              <a:t>.</a:t>
            </a:r>
            <a:endParaRPr lang="en-US" sz="2000"/>
          </a:p>
        </p:txBody>
      </p:sp>
      <p:sp>
        <p:nvSpPr>
          <p:cNvPr id="10" name="!!card_2"/>
          <p:cNvSpPr/>
          <p:nvPr/>
        </p:nvSpPr>
        <p:spPr>
          <a:xfrm>
            <a:off x="4343400" y="1463040"/>
            <a:ext cx="347472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2765" y="1600200"/>
            <a:ext cx="3467100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F2C59"/>
                </a:solidFill>
                <a:latin typeface="Calibri" panose="020F0502020204030204"/>
              </a:defRPr>
            </a:pPr>
            <a:r>
              <a:rPr sz="2000"/>
              <a:t>Gom Cụm Không Gian &amp; Lọc Đồng Thuận</a:t>
            </a:r>
            <a:endParaRPr sz="2400"/>
          </a:p>
        </p:txBody>
      </p:sp>
      <p:sp>
        <p:nvSpPr>
          <p:cNvPr id="12" name="Rectangle 11"/>
          <p:cNvSpPr/>
          <p:nvPr/>
        </p:nvSpPr>
        <p:spPr>
          <a:xfrm>
            <a:off x="4343400" y="1463040"/>
            <a:ext cx="3474720" cy="7315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1335" y="2430145"/>
            <a:ext cx="3603625" cy="1322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1E293B"/>
                </a:solidFill>
              </a:defRPr>
            </a:pPr>
            <a:r>
              <a:rPr lang="en-US" sz="1700"/>
              <a:t>G</a:t>
            </a:r>
            <a:r>
              <a:rPr sz="1700"/>
              <a:t>om cụm khoảng cách để nhóm các lát cắt cùng khối u</a:t>
            </a:r>
            <a:endParaRPr sz="2000"/>
          </a:p>
          <a:p>
            <a:pPr algn="l">
              <a:defRPr sz="1200">
                <a:solidFill>
                  <a:srgbClr val="1E293B"/>
                </a:solidFill>
              </a:defRPr>
            </a:pPr>
            <a:r>
              <a:rPr lang="en-US" sz="1700"/>
              <a:t>L</a:t>
            </a:r>
            <a:r>
              <a:rPr sz="1700"/>
              <a:t>oại bỏ vùng nghi ngờ mơ hồ đảm bảo tính tin cậy.</a:t>
            </a:r>
            <a:endParaRPr sz="2000"/>
          </a:p>
        </p:txBody>
      </p:sp>
      <p:sp>
        <p:nvSpPr>
          <p:cNvPr id="14" name="!!card_3"/>
          <p:cNvSpPr/>
          <p:nvPr/>
        </p:nvSpPr>
        <p:spPr>
          <a:xfrm>
            <a:off x="7955280" y="1463040"/>
            <a:ext cx="347472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47660" y="1600200"/>
            <a:ext cx="3475990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F2C59"/>
                </a:solidFill>
                <a:latin typeface="Calibri" panose="020F0502020204030204"/>
              </a:defRPr>
            </a:pPr>
            <a:r>
              <a:rPr sz="2000"/>
              <a:t>Kiến Trúc Đa Tác Vụ JointSegGatedDenseNet</a:t>
            </a:r>
            <a:endParaRPr sz="2400"/>
          </a:p>
        </p:txBody>
      </p:sp>
      <p:sp>
        <p:nvSpPr>
          <p:cNvPr id="16" name="Rectangle 15"/>
          <p:cNvSpPr/>
          <p:nvPr/>
        </p:nvSpPr>
        <p:spPr>
          <a:xfrm>
            <a:off x="7955280" y="1463040"/>
            <a:ext cx="3474720" cy="7315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34325" y="2431415"/>
            <a:ext cx="3594100" cy="1322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rPr sz="1700"/>
              <a:t>Tích hợp Backbone DenseNet-121, CBAM, 5 tầng Decoder U-Net,</a:t>
            </a:r>
            <a:r>
              <a:rPr lang="en-US" sz="1700"/>
              <a:t> </a:t>
            </a:r>
            <a:r>
              <a:rPr sz="1700"/>
              <a:t>cơ chế Lesion-Guided Pooling + Cross-Modal Gate.</a:t>
            </a:r>
            <a:endParaRPr sz="2000"/>
          </a:p>
        </p:txBody>
      </p:sp>
      <p:sp>
        <p:nvSpPr>
          <p:cNvPr id="18" name="!!card_4"/>
          <p:cNvSpPr/>
          <p:nvPr/>
        </p:nvSpPr>
        <p:spPr>
          <a:xfrm>
            <a:off x="2532888" y="4023360"/>
            <a:ext cx="347472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33650" y="4160520"/>
            <a:ext cx="3474085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F2C59"/>
                </a:solidFill>
                <a:latin typeface="Calibri" panose="020F0502020204030204"/>
              </a:defRPr>
            </a:pPr>
            <a:r>
              <a:rPr sz="2000"/>
              <a:t>Tổ Hợp Khai Phá Radiomics Ensemble</a:t>
            </a:r>
            <a:endParaRPr sz="2400"/>
          </a:p>
        </p:txBody>
      </p:sp>
      <p:sp>
        <p:nvSpPr>
          <p:cNvPr id="20" name="Rectangle 19"/>
          <p:cNvSpPr/>
          <p:nvPr/>
        </p:nvSpPr>
        <p:spPr>
          <a:xfrm>
            <a:off x="2532888" y="4023360"/>
            <a:ext cx="347472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32380" y="5054600"/>
            <a:ext cx="3475355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rPr sz="1700"/>
              <a:t>Huấn luyện 4 mô hình học máy (HistGradientBoosting x2, ExtraTrees, RandomForest)</a:t>
            </a:r>
            <a:r>
              <a:rPr lang="en-US" sz="1700"/>
              <a:t>.</a:t>
            </a:r>
            <a:endParaRPr lang="en-US" sz="2000"/>
          </a:p>
        </p:txBody>
      </p:sp>
      <p:sp>
        <p:nvSpPr>
          <p:cNvPr id="22" name="!!card_5"/>
          <p:cNvSpPr/>
          <p:nvPr/>
        </p:nvSpPr>
        <p:spPr>
          <a:xfrm>
            <a:off x="6144768" y="4023360"/>
            <a:ext cx="347472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35370" y="4160520"/>
            <a:ext cx="3484245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F2C59"/>
                </a:solidFill>
                <a:latin typeface="Calibri" panose="020F0502020204030204"/>
              </a:defRPr>
            </a:pPr>
            <a:r>
              <a:rPr sz="2000"/>
              <a:t>Chiến Lược Tối Ưu An Toàn Lâm Sàng</a:t>
            </a:r>
            <a:endParaRPr sz="2400"/>
          </a:p>
        </p:txBody>
      </p:sp>
      <p:sp>
        <p:nvSpPr>
          <p:cNvPr id="24" name="Rectangle 23"/>
          <p:cNvSpPr/>
          <p:nvPr/>
        </p:nvSpPr>
        <p:spPr>
          <a:xfrm>
            <a:off x="6144768" y="4023360"/>
            <a:ext cx="3474720" cy="73152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35370" y="5054600"/>
            <a:ext cx="3484245" cy="1322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rPr sz="1700"/>
              <a:t>Asymmetric Focal Loss + Phạt chi phí (Cost-Sensitive)</a:t>
            </a:r>
            <a:endParaRPr sz="2000"/>
          </a:p>
          <a:p>
            <a:pPr>
              <a:defRPr sz="1200">
                <a:solidFill>
                  <a:srgbClr val="1E293B"/>
                </a:solidFill>
              </a:defRPr>
            </a:pPr>
            <a:r>
              <a:rPr lang="en-US" sz="1700"/>
              <a:t>T</a:t>
            </a:r>
            <a:r>
              <a:rPr sz="1700"/>
              <a:t>ối ưu ngưỡng T* ưu tiên Recall ác tính.</a:t>
            </a:r>
            <a:endParaRPr sz="2000"/>
          </a:p>
        </p:txBody>
      </p:sp>
      <p:pic>
        <p:nvPicPr>
          <p:cNvPr id="26" name="!!header_logo"/>
          <p:cNvPicPr>
            <a:picLocks noChangeAspect="1"/>
          </p:cNvPicPr>
          <p:nvPr/>
        </p:nvPicPr>
        <p:blipFill>
          <a:blip r:embed="rId1"/>
          <a:srcRect r="70407"/>
          <a:stretch>
            <a:fillRect/>
          </a:stretch>
        </p:blipFill>
        <p:spPr>
          <a:xfrm>
            <a:off x="184785" y="77470"/>
            <a:ext cx="807720" cy="896620"/>
          </a:xfrm>
          <a:prstGeom prst="rect">
            <a:avLst/>
          </a:prstGeom>
        </p:spPr>
      </p:pic>
      <p:sp>
        <p:nvSpPr>
          <p:cNvPr id="27" name="!!header_title"/>
          <p:cNvSpPr txBox="1"/>
          <p:nvPr/>
        </p:nvSpPr>
        <p:spPr>
          <a:xfrm>
            <a:off x="1097280" y="311150"/>
            <a:ext cx="406844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 panose="020F0502020204030204"/>
              </a:defRPr>
            </a:pPr>
            <a:r>
              <a:rPr lang="en-US" sz="2400"/>
              <a:t>1. BỐI CẢNH &amp; ĐẶT VẤN ĐỀ</a:t>
            </a:r>
            <a:endParaRPr lang="en-US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900"/>
    </mc:Choice>
    <mc:Fallback>
      <p:transition spd="med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!!header_bar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accent_line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header_title"/>
          <p:cNvSpPr txBox="1"/>
          <p:nvPr/>
        </p:nvSpPr>
        <p:spPr>
          <a:xfrm>
            <a:off x="1097280" y="292608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 panose="020F0502020204030204"/>
              </a:defRPr>
            </a:pPr>
            <a:r>
              <a:t>2. KHÁM PHÁ DỮ LIỆU LIDC-IDRI</a:t>
            </a:r>
          </a:p>
        </p:txBody>
      </p:sp>
      <p:sp>
        <p:nvSpPr>
          <p:cNvPr id="7" name="!!card_1"/>
          <p:cNvSpPr/>
          <p:nvPr/>
        </p:nvSpPr>
        <p:spPr>
          <a:xfrm>
            <a:off x="548640" y="1325880"/>
            <a:ext cx="502920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card_1_stripe"/>
          <p:cNvSpPr/>
          <p:nvPr/>
        </p:nvSpPr>
        <p:spPr>
          <a:xfrm>
            <a:off x="548640" y="1325880"/>
            <a:ext cx="5029200" cy="82296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card_1_title"/>
          <p:cNvSpPr txBox="1"/>
          <p:nvPr/>
        </p:nvSpPr>
        <p:spPr>
          <a:xfrm>
            <a:off x="749808" y="1472184"/>
            <a:ext cx="462686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C59"/>
                </a:solidFill>
                <a:latin typeface="Calibri" panose="020F0502020204030204"/>
              </a:defRPr>
            </a:pPr>
            <a:r>
              <a:t>Bộ Dữ Liệu Chuẩn Quốc Tế LIDC-IDRI</a:t>
            </a:r>
          </a:p>
        </p:txBody>
      </p:sp>
      <p:sp>
        <p:nvSpPr>
          <p:cNvPr id="10" name="!!card_body_1"/>
          <p:cNvSpPr txBox="1"/>
          <p:nvPr/>
        </p:nvSpPr>
        <p:spPr>
          <a:xfrm>
            <a:off x="777240" y="201168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1">
                <a:solidFill>
                  <a:srgbClr val="0F2C59"/>
                </a:solidFill>
                <a:latin typeface="Calibri" panose="020F0502020204030204"/>
              </a:rPr>
              <a:t>• Nguồn dữ liệu: </a:t>
            </a:r>
            <a:r>
              <a:rPr sz="1900">
                <a:solidFill>
                  <a:srgbClr val="1E293B"/>
                </a:solidFill>
                <a:latin typeface="Calibri" panose="020F0502020204030204"/>
              </a:rPr>
              <a:t>1.010 bệnh nhân CT lồng ngực từ Viện Ung thư Quốc gia Hoa Kỳ (NCI).</a:t>
            </a:r>
            <a:endParaRPr sz="1900">
              <a:solidFill>
                <a:srgbClr val="1E293B"/>
              </a:solidFill>
              <a:latin typeface="Calibri" panose="020F0502020204030204"/>
            </a:endParaRP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0EA5E9"/>
                </a:solidFill>
                <a:latin typeface="Calibri" panose="020F0502020204030204"/>
              </a:rPr>
              <a:t>• Gán nhãn đa chuyên gia: </a:t>
            </a:r>
            <a:r>
              <a:rPr sz="1900">
                <a:solidFill>
                  <a:srgbClr val="1E293B"/>
                </a:solidFill>
                <a:latin typeface="Calibri" panose="020F0502020204030204"/>
              </a:rPr>
              <a:t>Tối đa 4 bác sĩ khoanh viền u và chấm 9 thuộc tính độc lập.</a:t>
            </a:r>
            <a:endParaRPr sz="1900">
              <a:solidFill>
                <a:srgbClr val="1E293B"/>
              </a:solidFill>
              <a:latin typeface="Calibri" panose="020F0502020204030204"/>
            </a:endParaRP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10B981"/>
                </a:solidFill>
                <a:latin typeface="Calibri" panose="020F0502020204030204"/>
              </a:rPr>
              <a:t>• Dữ liệu sau lọc sạch: </a:t>
            </a:r>
            <a:r>
              <a:rPr sz="1900">
                <a:solidFill>
                  <a:srgbClr val="1E293B"/>
                </a:solidFill>
                <a:latin typeface="Calibri" panose="020F0502020204030204"/>
              </a:rPr>
              <a:t>18.204 lát cắt nốt 2.5D (64×64×3) kèm mặt nạ u &amp; 56 đặc trưng.</a:t>
            </a:r>
            <a:endParaRPr sz="1900">
              <a:solidFill>
                <a:srgbClr val="1E293B"/>
              </a:solidFill>
              <a:latin typeface="Calibri" panose="020F0502020204030204"/>
            </a:endParaRP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E11D48"/>
                </a:solidFill>
                <a:latin typeface="Calibri" panose="020F0502020204030204"/>
              </a:rPr>
              <a:t>• Chia theo Bệnh nhân: </a:t>
            </a:r>
            <a:r>
              <a:rPr sz="1900">
                <a:solidFill>
                  <a:srgbClr val="1E293B"/>
                </a:solidFill>
                <a:latin typeface="Calibri" panose="020F0502020204030204"/>
              </a:rPr>
              <a:t>70% Train | 15% Val | 15% Test. Đảm bảo KHÔNG rò rỉ dữ liệu!</a:t>
            </a:r>
            <a:endParaRPr sz="190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11" name="!!kpi_1"/>
          <p:cNvSpPr/>
          <p:nvPr/>
        </p:nvSpPr>
        <p:spPr>
          <a:xfrm>
            <a:off x="5806440" y="1325880"/>
            <a:ext cx="278892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kpi_1_stripe"/>
          <p:cNvSpPr/>
          <p:nvPr/>
        </p:nvSpPr>
        <p:spPr>
          <a:xfrm>
            <a:off x="5806440" y="1325880"/>
            <a:ext cx="2788920" cy="82296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1417320"/>
            <a:ext cx="2514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F2C59"/>
                </a:solidFill>
              </a:defRPr>
            </a:pPr>
            <a:r>
              <a:t>1.010</a:t>
            </a:r>
          </a:p>
          <a:p>
            <a:pPr algn="ctr">
              <a:defRPr sz="1500" b="1">
                <a:solidFill>
                  <a:srgbClr val="64748B"/>
                </a:solidFill>
              </a:defRPr>
            </a:pPr>
            <a:r>
              <a:t>BỆNH NHÂN CT</a:t>
            </a:r>
          </a:p>
        </p:txBody>
      </p:sp>
      <p:sp>
        <p:nvSpPr>
          <p:cNvPr id="14" name="!!kpi_2"/>
          <p:cNvSpPr/>
          <p:nvPr/>
        </p:nvSpPr>
        <p:spPr>
          <a:xfrm>
            <a:off x="8823960" y="1325880"/>
            <a:ext cx="278892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kpi_2_stripe"/>
          <p:cNvSpPr/>
          <p:nvPr/>
        </p:nvSpPr>
        <p:spPr>
          <a:xfrm>
            <a:off x="8823960" y="1325880"/>
            <a:ext cx="2788920" cy="8229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1417320"/>
            <a:ext cx="2514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EA5E9"/>
                </a:solidFill>
              </a:defRPr>
            </a:pPr>
            <a:r>
              <a:t>18.204</a:t>
            </a:r>
          </a:p>
          <a:p>
            <a:pPr algn="ctr">
              <a:defRPr sz="1500" b="1">
                <a:solidFill>
                  <a:srgbClr val="64748B"/>
                </a:solidFill>
              </a:defRPr>
            </a:pPr>
            <a:r>
              <a:t>MẪU NỐT SẠCH</a:t>
            </a:r>
          </a:p>
        </p:txBody>
      </p:sp>
      <p:pic>
        <p:nvPicPr>
          <p:cNvPr id="17" name="!!hero_visual" descr="illus_dataset_spli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978171"/>
            <a:ext cx="5806440" cy="3233376"/>
          </a:xfrm>
          <a:prstGeom prst="rect">
            <a:avLst/>
          </a:prstGeom>
        </p:spPr>
      </p:pic>
      <p:pic>
        <p:nvPicPr>
          <p:cNvPr id="26" name="!!header_logo"/>
          <p:cNvPicPr>
            <a:picLocks noChangeAspect="1"/>
          </p:cNvPicPr>
          <p:nvPr/>
        </p:nvPicPr>
        <p:blipFill>
          <a:blip r:embed="rId2"/>
          <a:srcRect r="70407"/>
          <a:stretch>
            <a:fillRect/>
          </a:stretch>
        </p:blipFill>
        <p:spPr>
          <a:xfrm>
            <a:off x="184785" y="77470"/>
            <a:ext cx="807720" cy="8966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900"/>
    </mc:Choice>
    <mc:Fallback>
      <p:transition spd="med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!!header_bar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accent_line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header_title"/>
          <p:cNvSpPr txBox="1"/>
          <p:nvPr/>
        </p:nvSpPr>
        <p:spPr>
          <a:xfrm>
            <a:off x="1097280" y="292608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 panose="020F0502020204030204"/>
              </a:defRPr>
            </a:pPr>
            <a:r>
              <a:t>2. KHÁM PHÁ DỮ LIỆU LIDC-IDRI</a:t>
            </a:r>
          </a:p>
        </p:txBody>
      </p:sp>
      <p:pic>
        <p:nvPicPr>
          <p:cNvPr id="7" name="!!hero_visual" descr="image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9632" y="1234440"/>
            <a:ext cx="8749686" cy="3566160"/>
          </a:xfrm>
          <a:prstGeom prst="rect">
            <a:avLst/>
          </a:prstGeom>
        </p:spPr>
      </p:pic>
      <p:sp>
        <p:nvSpPr>
          <p:cNvPr id="8" name="!!card_1"/>
          <p:cNvSpPr/>
          <p:nvPr/>
        </p:nvSpPr>
        <p:spPr>
          <a:xfrm>
            <a:off x="548640" y="4919472"/>
            <a:ext cx="3566160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card_1_stripe"/>
          <p:cNvSpPr/>
          <p:nvPr/>
        </p:nvSpPr>
        <p:spPr>
          <a:xfrm>
            <a:off x="548640" y="4919472"/>
            <a:ext cx="3566160" cy="82296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card_1_title"/>
          <p:cNvSpPr txBox="1"/>
          <p:nvPr/>
        </p:nvSpPr>
        <p:spPr>
          <a:xfrm>
            <a:off x="749808" y="5065776"/>
            <a:ext cx="31638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C59"/>
                </a:solidFill>
                <a:latin typeface="Calibri" panose="020F0502020204030204"/>
              </a:defRPr>
            </a:pPr>
            <a:r>
              <a:t>55.4% Ở Phổi Phải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468112"/>
            <a:ext cx="3200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>
                <a:solidFill>
                  <a:srgbClr val="1E293B"/>
                </a:solidFill>
                <a:latin typeface="Calibri" panose="020F0502020204030204"/>
              </a:rPr>
              <a:t>Phổi phải có 3 thùy (thể tích lớn hơn phổi trái 2 thùy), khớp thực tế giải phẫu.</a:t>
            </a:r>
            <a:endParaRPr sz="170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12" name="!!card_2"/>
          <p:cNvSpPr/>
          <p:nvPr/>
        </p:nvSpPr>
        <p:spPr>
          <a:xfrm>
            <a:off x="4315968" y="4919472"/>
            <a:ext cx="3566160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card_2_stripe"/>
          <p:cNvSpPr/>
          <p:nvPr/>
        </p:nvSpPr>
        <p:spPr>
          <a:xfrm>
            <a:off x="4315968" y="4919472"/>
            <a:ext cx="3566160" cy="8229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card_2_title"/>
          <p:cNvSpPr txBox="1"/>
          <p:nvPr/>
        </p:nvSpPr>
        <p:spPr>
          <a:xfrm>
            <a:off x="4517136" y="5065776"/>
            <a:ext cx="31638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C59"/>
                </a:solidFill>
                <a:latin typeface="Calibri" panose="020F0502020204030204"/>
              </a:defRPr>
            </a:pPr>
            <a:r>
              <a:t>67.0% Ở Vùng Ngoại Vi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5468112"/>
            <a:ext cx="3200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>
                <a:solidFill>
                  <a:srgbClr val="1E293B"/>
                </a:solidFill>
                <a:latin typeface="Calibri" panose="020F0502020204030204"/>
              </a:rPr>
              <a:t>Đa số khối u nằm sát màng phổi; cần tách tốt bờ khối u khỏi thành ngực.</a:t>
            </a:r>
            <a:endParaRPr sz="170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16" name="!!card_3"/>
          <p:cNvSpPr/>
          <p:nvPr/>
        </p:nvSpPr>
        <p:spPr>
          <a:xfrm>
            <a:off x="8083296" y="4919472"/>
            <a:ext cx="3566160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!!card_3_stripe"/>
          <p:cNvSpPr/>
          <p:nvPr/>
        </p:nvSpPr>
        <p:spPr>
          <a:xfrm>
            <a:off x="8083296" y="4919472"/>
            <a:ext cx="3566160" cy="82296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!!card_3_title"/>
          <p:cNvSpPr txBox="1"/>
          <p:nvPr/>
        </p:nvSpPr>
        <p:spPr>
          <a:xfrm>
            <a:off x="8284464" y="5065776"/>
            <a:ext cx="31638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C59"/>
                </a:solidFill>
                <a:latin typeface="Calibri" panose="020F0502020204030204"/>
              </a:defRPr>
            </a:pPr>
            <a:r>
              <a:t>4 Hotspots K-Means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5" y="5468112"/>
            <a:ext cx="3200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>
                <a:solidFill>
                  <a:srgbClr val="1E293B"/>
                </a:solidFill>
                <a:latin typeface="Calibri" panose="020F0502020204030204"/>
              </a:rPr>
              <a:t>Tập trung đối xứng ở thùy trên trước và thùy dưới sau của hai lá phổi.</a:t>
            </a:r>
            <a:endParaRPr sz="1700">
              <a:solidFill>
                <a:srgbClr val="1E293B"/>
              </a:solidFill>
              <a:latin typeface="Calibri" panose="020F0502020204030204"/>
            </a:endParaRPr>
          </a:p>
        </p:txBody>
      </p:sp>
      <p:pic>
        <p:nvPicPr>
          <p:cNvPr id="26" name="!!header_logo"/>
          <p:cNvPicPr>
            <a:picLocks noChangeAspect="1"/>
          </p:cNvPicPr>
          <p:nvPr/>
        </p:nvPicPr>
        <p:blipFill>
          <a:blip r:embed="rId2"/>
          <a:srcRect r="70407"/>
          <a:stretch>
            <a:fillRect/>
          </a:stretch>
        </p:blipFill>
        <p:spPr>
          <a:xfrm>
            <a:off x="184785" y="77470"/>
            <a:ext cx="807720" cy="8966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900"/>
    </mc:Choice>
    <mc:Fallback>
      <p:transition spd="med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!!header_bar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accent_line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header_title"/>
          <p:cNvSpPr txBox="1"/>
          <p:nvPr/>
        </p:nvSpPr>
        <p:spPr>
          <a:xfrm>
            <a:off x="1097280" y="292608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 panose="020F0502020204030204"/>
              </a:defRPr>
            </a:pPr>
            <a:r>
              <a:t>3. TIỀN XỬ LÝ DỮ LIỆU ĐA TẦNG</a:t>
            </a:r>
          </a:p>
        </p:txBody>
      </p:sp>
      <p:pic>
        <p:nvPicPr>
          <p:cNvPr id="7" name="!!hero_visual" descr="image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79761"/>
            <a:ext cx="11091672" cy="2478820"/>
          </a:xfrm>
          <a:prstGeom prst="rect">
            <a:avLst/>
          </a:prstGeom>
        </p:spPr>
      </p:pic>
      <p:sp>
        <p:nvSpPr>
          <p:cNvPr id="8" name="!!card_1"/>
          <p:cNvSpPr/>
          <p:nvPr>
            <p:custDataLst>
              <p:tags r:id="rId2"/>
            </p:custDataLst>
          </p:nvPr>
        </p:nvSpPr>
        <p:spPr>
          <a:xfrm>
            <a:off x="548640" y="3931920"/>
            <a:ext cx="2121408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card_1_stripe"/>
          <p:cNvSpPr/>
          <p:nvPr>
            <p:custDataLst>
              <p:tags r:id="rId3"/>
            </p:custDataLst>
          </p:nvPr>
        </p:nvSpPr>
        <p:spPr>
          <a:xfrm>
            <a:off x="548640" y="3931920"/>
            <a:ext cx="2121408" cy="82296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card_1_title"/>
          <p:cNvSpPr txBox="1"/>
          <p:nvPr>
            <p:custDataLst>
              <p:tags r:id="rId4"/>
            </p:custDataLst>
          </p:nvPr>
        </p:nvSpPr>
        <p:spPr>
          <a:xfrm>
            <a:off x="749808" y="4078224"/>
            <a:ext cx="17190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C59"/>
                </a:solidFill>
                <a:latin typeface="Calibri" panose="020F0502020204030204"/>
              </a:defRPr>
            </a:pPr>
            <a:r>
              <a:t>1. Chuẩn HU</a:t>
            </a:r>
          </a:p>
        </p:txBody>
      </p:sp>
      <p:sp>
        <p:nvSpPr>
          <p:cNvPr id="11" name="TextBox 10"/>
          <p:cNvSpPr txBox="1"/>
          <p:nvPr>
            <p:custDataLst>
              <p:tags r:id="rId5"/>
            </p:custDataLst>
          </p:nvPr>
        </p:nvSpPr>
        <p:spPr>
          <a:xfrm>
            <a:off x="685800" y="4787900"/>
            <a:ext cx="1847088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50">
                <a:solidFill>
                  <a:srgbClr val="1E293B"/>
                </a:solidFill>
                <a:latin typeface="Calibri" panose="020F0502020204030204"/>
              </a:rPr>
              <a:t>Đưa pixel thô về thang vật lý suy giảm tia X chuẩn.</a:t>
            </a:r>
            <a:endParaRPr sz="175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12" name="!!card_2"/>
          <p:cNvSpPr/>
          <p:nvPr>
            <p:custDataLst>
              <p:tags r:id="rId6"/>
            </p:custDataLst>
          </p:nvPr>
        </p:nvSpPr>
        <p:spPr>
          <a:xfrm>
            <a:off x="2788920" y="3931920"/>
            <a:ext cx="2121408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card_2_stripe"/>
          <p:cNvSpPr/>
          <p:nvPr>
            <p:custDataLst>
              <p:tags r:id="rId7"/>
            </p:custDataLst>
          </p:nvPr>
        </p:nvSpPr>
        <p:spPr>
          <a:xfrm>
            <a:off x="2788920" y="3931920"/>
            <a:ext cx="2121408" cy="8229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card_2_title"/>
          <p:cNvSpPr txBox="1"/>
          <p:nvPr>
            <p:custDataLst>
              <p:tags r:id="rId8"/>
            </p:custDataLst>
          </p:nvPr>
        </p:nvSpPr>
        <p:spPr>
          <a:xfrm>
            <a:off x="2990088" y="4078224"/>
            <a:ext cx="17190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C59"/>
                </a:solidFill>
                <a:latin typeface="Calibri" panose="020F0502020204030204"/>
              </a:defRPr>
            </a:pPr>
            <a:r>
              <a:t>2. CLAHE 8×8</a:t>
            </a:r>
          </a:p>
        </p:txBody>
      </p:sp>
      <p:sp>
        <p:nvSpPr>
          <p:cNvPr id="15" name="TextBox 14"/>
          <p:cNvSpPr txBox="1"/>
          <p:nvPr>
            <p:custDataLst>
              <p:tags r:id="rId9"/>
            </p:custDataLst>
          </p:nvPr>
        </p:nvSpPr>
        <p:spPr>
          <a:xfrm>
            <a:off x="2926080" y="4787900"/>
            <a:ext cx="1847088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50">
                <a:solidFill>
                  <a:srgbClr val="1E293B"/>
                </a:solidFill>
                <a:latin typeface="Calibri" panose="020F0502020204030204"/>
              </a:rPr>
              <a:t>Tăng tương phản cục bộ (clip=2.5), rõ kính mờ.</a:t>
            </a:r>
            <a:endParaRPr sz="175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16" name="!!card_3"/>
          <p:cNvSpPr/>
          <p:nvPr>
            <p:custDataLst>
              <p:tags r:id="rId10"/>
            </p:custDataLst>
          </p:nvPr>
        </p:nvSpPr>
        <p:spPr>
          <a:xfrm>
            <a:off x="5029200" y="3931920"/>
            <a:ext cx="2121408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!!card_3_stripe"/>
          <p:cNvSpPr/>
          <p:nvPr>
            <p:custDataLst>
              <p:tags r:id="rId11"/>
            </p:custDataLst>
          </p:nvPr>
        </p:nvSpPr>
        <p:spPr>
          <a:xfrm>
            <a:off x="5029200" y="3931920"/>
            <a:ext cx="2121408" cy="8229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!!card_3_title"/>
          <p:cNvSpPr txBox="1"/>
          <p:nvPr>
            <p:custDataLst>
              <p:tags r:id="rId12"/>
            </p:custDataLst>
          </p:nvPr>
        </p:nvSpPr>
        <p:spPr>
          <a:xfrm>
            <a:off x="5230368" y="4078224"/>
            <a:ext cx="17190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C59"/>
                </a:solidFill>
                <a:latin typeface="Calibri" panose="020F0502020204030204"/>
              </a:defRPr>
            </a:pPr>
            <a:r>
              <a:t>3. Unsharp Mask</a:t>
            </a:r>
          </a:p>
        </p:txBody>
      </p:sp>
      <p:sp>
        <p:nvSpPr>
          <p:cNvPr id="19" name="TextBox 18"/>
          <p:cNvSpPr txBox="1"/>
          <p:nvPr>
            <p:custDataLst>
              <p:tags r:id="rId13"/>
            </p:custDataLst>
          </p:nvPr>
        </p:nvSpPr>
        <p:spPr>
          <a:xfrm>
            <a:off x="5166360" y="4787900"/>
            <a:ext cx="1847088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50">
                <a:solidFill>
                  <a:srgbClr val="1E293B"/>
                </a:solidFill>
                <a:latin typeface="Calibri" panose="020F0502020204030204"/>
              </a:rPr>
              <a:t>Tăng độ nét biên +282%, nổi bật bờ gai tua.</a:t>
            </a:r>
            <a:endParaRPr sz="175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20" name="!!card_4"/>
          <p:cNvSpPr/>
          <p:nvPr>
            <p:custDataLst>
              <p:tags r:id="rId14"/>
            </p:custDataLst>
          </p:nvPr>
        </p:nvSpPr>
        <p:spPr>
          <a:xfrm>
            <a:off x="7269480" y="3931920"/>
            <a:ext cx="2121408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!!card_4_stripe"/>
          <p:cNvSpPr/>
          <p:nvPr>
            <p:custDataLst>
              <p:tags r:id="rId15"/>
            </p:custDataLst>
          </p:nvPr>
        </p:nvSpPr>
        <p:spPr>
          <a:xfrm>
            <a:off x="7269480" y="3931920"/>
            <a:ext cx="2121408" cy="82296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!!card_4_title"/>
          <p:cNvSpPr txBox="1"/>
          <p:nvPr>
            <p:custDataLst>
              <p:tags r:id="rId16"/>
            </p:custDataLst>
          </p:nvPr>
        </p:nvSpPr>
        <p:spPr>
          <a:xfrm>
            <a:off x="7470648" y="4078224"/>
            <a:ext cx="17190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C59"/>
                </a:solidFill>
                <a:latin typeface="Calibri" panose="020F0502020204030204"/>
              </a:defRPr>
            </a:pPr>
            <a:r>
              <a:t>4. Tri-Window</a:t>
            </a:r>
          </a:p>
        </p:txBody>
      </p:sp>
      <p:sp>
        <p:nvSpPr>
          <p:cNvPr id="23" name="TextBox 22"/>
          <p:cNvSpPr txBox="1"/>
          <p:nvPr>
            <p:custDataLst>
              <p:tags r:id="rId17"/>
            </p:custDataLst>
          </p:nvPr>
        </p:nvSpPr>
        <p:spPr>
          <a:xfrm>
            <a:off x="7406640" y="4787900"/>
            <a:ext cx="1847088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50">
                <a:solidFill>
                  <a:srgbClr val="1E293B"/>
                </a:solidFill>
                <a:latin typeface="Calibri" panose="020F0502020204030204"/>
              </a:rPr>
              <a:t>Ghép 3 kênh R-G-B: Phổi, Trung thất, Xương.</a:t>
            </a:r>
            <a:endParaRPr sz="175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24" name="!!card_5"/>
          <p:cNvSpPr/>
          <p:nvPr>
            <p:custDataLst>
              <p:tags r:id="rId18"/>
            </p:custDataLst>
          </p:nvPr>
        </p:nvSpPr>
        <p:spPr>
          <a:xfrm>
            <a:off x="9509760" y="3931920"/>
            <a:ext cx="2121408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!!card_5_stripe"/>
          <p:cNvSpPr/>
          <p:nvPr>
            <p:custDataLst>
              <p:tags r:id="rId19"/>
            </p:custDataLst>
          </p:nvPr>
        </p:nvSpPr>
        <p:spPr>
          <a:xfrm>
            <a:off x="9509760" y="3931920"/>
            <a:ext cx="2121408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!!card_5_title"/>
          <p:cNvSpPr txBox="1"/>
          <p:nvPr>
            <p:custDataLst>
              <p:tags r:id="rId20"/>
            </p:custDataLst>
          </p:nvPr>
        </p:nvSpPr>
        <p:spPr>
          <a:xfrm>
            <a:off x="9710928" y="4078224"/>
            <a:ext cx="17190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C59"/>
                </a:solidFill>
                <a:latin typeface="Calibri" panose="020F0502020204030204"/>
              </a:defRPr>
            </a:pPr>
            <a:r>
              <a:t>5. Tách 2 Lá Phổi</a:t>
            </a:r>
          </a:p>
        </p:txBody>
      </p:sp>
      <p:sp>
        <p:nvSpPr>
          <p:cNvPr id="27" name="TextBox 26"/>
          <p:cNvSpPr txBox="1"/>
          <p:nvPr>
            <p:custDataLst>
              <p:tags r:id="rId21"/>
            </p:custDataLst>
          </p:nvPr>
        </p:nvSpPr>
        <p:spPr>
          <a:xfrm>
            <a:off x="9646920" y="4787900"/>
            <a:ext cx="1847088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50">
                <a:solidFill>
                  <a:srgbClr val="1E293B"/>
                </a:solidFill>
                <a:latin typeface="Calibri" panose="020F0502020204030204"/>
              </a:rPr>
              <a:t>Otsu HU &lt; -320, xóa khí nền và lấp lỗ mạch máu.</a:t>
            </a:r>
            <a:endParaRPr sz="1750">
              <a:solidFill>
                <a:srgbClr val="1E293B"/>
              </a:solidFill>
              <a:latin typeface="Calibri" panose="020F0502020204030204"/>
            </a:endParaRPr>
          </a:p>
        </p:txBody>
      </p:sp>
      <p:pic>
        <p:nvPicPr>
          <p:cNvPr id="28" name="!!header_logo"/>
          <p:cNvPicPr>
            <a:picLocks noChangeAspect="1"/>
          </p:cNvPicPr>
          <p:nvPr/>
        </p:nvPicPr>
        <p:blipFill>
          <a:blip r:embed="rId22"/>
          <a:srcRect r="70407"/>
          <a:stretch>
            <a:fillRect/>
          </a:stretch>
        </p:blipFill>
        <p:spPr>
          <a:xfrm>
            <a:off x="184785" y="77470"/>
            <a:ext cx="807720" cy="8966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900"/>
    </mc:Choice>
    <mc:Fallback>
      <p:transition spd="med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!!header_bar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accent_line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header_title"/>
          <p:cNvSpPr txBox="1"/>
          <p:nvPr/>
        </p:nvSpPr>
        <p:spPr>
          <a:xfrm>
            <a:off x="1097280" y="292608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 panose="020F0502020204030204"/>
              </a:defRPr>
            </a:pPr>
            <a:r>
              <a:t>3. TIỀN XỬ LÝ DỮ LIỆU ĐA TẦNG</a:t>
            </a:r>
          </a:p>
        </p:txBody>
      </p:sp>
      <p:sp>
        <p:nvSpPr>
          <p:cNvPr id="7" name="!!card_1"/>
          <p:cNvSpPr/>
          <p:nvPr/>
        </p:nvSpPr>
        <p:spPr>
          <a:xfrm>
            <a:off x="548640" y="1325880"/>
            <a:ext cx="5852160" cy="15727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card_1_stripe"/>
          <p:cNvSpPr/>
          <p:nvPr/>
        </p:nvSpPr>
        <p:spPr>
          <a:xfrm>
            <a:off x="548640" y="1325880"/>
            <a:ext cx="5852160" cy="82296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card_1_title"/>
          <p:cNvSpPr txBox="1"/>
          <p:nvPr/>
        </p:nvSpPr>
        <p:spPr>
          <a:xfrm>
            <a:off x="749808" y="1472184"/>
            <a:ext cx="54498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C59"/>
                </a:solidFill>
                <a:latin typeface="Calibri" panose="020F0502020204030204"/>
              </a:defRPr>
            </a:pPr>
            <a:r>
              <a:t>Kênh Đỏ (R) – Cửa Sổ Phổi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84248"/>
            <a:ext cx="5440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50" b="1">
                <a:solidFill>
                  <a:srgbClr val="E11D48"/>
                </a:solidFill>
                <a:latin typeface="Calibri" panose="020F0502020204030204"/>
              </a:rPr>
              <a:t>• </a:t>
            </a:r>
            <a:r>
              <a:rPr sz="1850">
                <a:solidFill>
                  <a:srgbClr val="1E293B"/>
                </a:solidFill>
                <a:latin typeface="Calibri" panose="020F0502020204030204"/>
              </a:rPr>
              <a:t>L = -600, W = 1500 HU: Rõ nhu mô, bờ gai tua &amp; kính mờ.</a:t>
            </a:r>
            <a:endParaRPr sz="185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11" name="!!card_2"/>
          <p:cNvSpPr/>
          <p:nvPr/>
        </p:nvSpPr>
        <p:spPr>
          <a:xfrm>
            <a:off x="548640" y="3063239"/>
            <a:ext cx="5852160" cy="15727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card_2_stripe"/>
          <p:cNvSpPr/>
          <p:nvPr/>
        </p:nvSpPr>
        <p:spPr>
          <a:xfrm>
            <a:off x="548640" y="3063239"/>
            <a:ext cx="5852160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card_2_title"/>
          <p:cNvSpPr txBox="1"/>
          <p:nvPr/>
        </p:nvSpPr>
        <p:spPr>
          <a:xfrm>
            <a:off x="749808" y="3209544"/>
            <a:ext cx="54498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C59"/>
                </a:solidFill>
                <a:latin typeface="Calibri" panose="020F0502020204030204"/>
              </a:defRPr>
            </a:pPr>
            <a:r>
              <a:t>Kênh Lục (G) – Cửa Sổ Trung Thất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721607"/>
            <a:ext cx="5440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50" b="1">
                <a:solidFill>
                  <a:srgbClr val="10B981"/>
                </a:solidFill>
                <a:latin typeface="Calibri" panose="020F0502020204030204"/>
              </a:rPr>
              <a:t>• </a:t>
            </a:r>
            <a:r>
              <a:rPr sz="1850">
                <a:solidFill>
                  <a:srgbClr val="1E293B"/>
                </a:solidFill>
                <a:latin typeface="Calibri" panose="020F0502020204030204"/>
              </a:rPr>
              <a:t>L = +40, W = 350 HU: Rõ lõi mô mềm, mạch máu &amp; nốt đặc.</a:t>
            </a:r>
            <a:endParaRPr sz="185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15" name="!!card_3"/>
          <p:cNvSpPr/>
          <p:nvPr/>
        </p:nvSpPr>
        <p:spPr>
          <a:xfrm>
            <a:off x="548640" y="4800600"/>
            <a:ext cx="5852160" cy="15727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!!card_3_stripe"/>
          <p:cNvSpPr/>
          <p:nvPr/>
        </p:nvSpPr>
        <p:spPr>
          <a:xfrm>
            <a:off x="548640" y="4800600"/>
            <a:ext cx="5852160" cy="8229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!!card_3_title"/>
          <p:cNvSpPr txBox="1"/>
          <p:nvPr/>
        </p:nvSpPr>
        <p:spPr>
          <a:xfrm>
            <a:off x="749808" y="4946904"/>
            <a:ext cx="54498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C59"/>
                </a:solidFill>
                <a:latin typeface="Calibri" panose="020F0502020204030204"/>
              </a:defRPr>
            </a:pPr>
            <a:r>
              <a:t>Kênh Lam (B) – Cửa Sổ Xương / Vôi Hóa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5458968"/>
            <a:ext cx="5440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50" b="1">
                <a:solidFill>
                  <a:srgbClr val="0EA5E9"/>
                </a:solidFill>
                <a:latin typeface="Calibri" panose="020F0502020204030204"/>
              </a:rPr>
              <a:t>• </a:t>
            </a:r>
            <a:r>
              <a:rPr sz="1850">
                <a:solidFill>
                  <a:srgbClr val="1E293B"/>
                </a:solidFill>
                <a:latin typeface="Calibri" panose="020F0502020204030204"/>
              </a:rPr>
              <a:t>L = +300, W = 1000 HU: Phát hiện vôi hóa lành tính &amp; xương.</a:t>
            </a:r>
            <a:endParaRPr sz="1850">
              <a:solidFill>
                <a:srgbClr val="1E293B"/>
              </a:solidFill>
              <a:latin typeface="Calibri" panose="020F0502020204030204"/>
            </a:endParaRPr>
          </a:p>
        </p:txBody>
      </p:sp>
      <p:pic>
        <p:nvPicPr>
          <p:cNvPr id="19" name="!!hero_visual" descr="illus_tri_window_r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344267"/>
            <a:ext cx="5029200" cy="5083865"/>
          </a:xfrm>
          <a:prstGeom prst="rect">
            <a:avLst/>
          </a:prstGeom>
        </p:spPr>
      </p:pic>
      <p:pic>
        <p:nvPicPr>
          <p:cNvPr id="26" name="!!header_logo"/>
          <p:cNvPicPr>
            <a:picLocks noChangeAspect="1"/>
          </p:cNvPicPr>
          <p:nvPr/>
        </p:nvPicPr>
        <p:blipFill>
          <a:blip r:embed="rId2"/>
          <a:srcRect r="70407"/>
          <a:stretch>
            <a:fillRect/>
          </a:stretch>
        </p:blipFill>
        <p:spPr>
          <a:xfrm>
            <a:off x="184785" y="77470"/>
            <a:ext cx="807720" cy="8966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900"/>
    </mc:Choice>
    <mc:Fallback>
      <p:transition spd="med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!!header_bar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accent_line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header_title"/>
          <p:cNvSpPr txBox="1"/>
          <p:nvPr/>
        </p:nvSpPr>
        <p:spPr>
          <a:xfrm>
            <a:off x="1097280" y="292608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 panose="020F0502020204030204"/>
              </a:defRPr>
            </a:pPr>
            <a:r>
              <a:t>3. TIỀN XỬ LÝ DỮ LIỆU ĐA TẦNG</a:t>
            </a:r>
          </a:p>
        </p:txBody>
      </p:sp>
      <p:pic>
        <p:nvPicPr>
          <p:cNvPr id="7" name="!!hero_visual" descr="illus_clustering_consensu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40716"/>
            <a:ext cx="5303520" cy="4690967"/>
          </a:xfrm>
          <a:prstGeom prst="rect">
            <a:avLst/>
          </a:prstGeom>
        </p:spPr>
      </p:pic>
      <p:sp>
        <p:nvSpPr>
          <p:cNvPr id="8" name="!!card_1"/>
          <p:cNvSpPr/>
          <p:nvPr/>
        </p:nvSpPr>
        <p:spPr>
          <a:xfrm>
            <a:off x="6035040" y="1325880"/>
            <a:ext cx="5577840" cy="2423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card_1_stripe"/>
          <p:cNvSpPr/>
          <p:nvPr/>
        </p:nvSpPr>
        <p:spPr>
          <a:xfrm>
            <a:off x="6035040" y="1325880"/>
            <a:ext cx="5577840" cy="82296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card_1_title"/>
          <p:cNvSpPr txBox="1"/>
          <p:nvPr/>
        </p:nvSpPr>
        <p:spPr>
          <a:xfrm>
            <a:off x="6236207" y="1472184"/>
            <a:ext cx="517550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C59"/>
                </a:solidFill>
                <a:latin typeface="Calibri" panose="020F0502020204030204"/>
              </a:defRPr>
            </a:pPr>
            <a:r>
              <a:t>Gom Cụm Nốt Không Gian (≤ 18px)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96596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50" b="1">
                <a:solidFill>
                  <a:srgbClr val="0F2C59"/>
                </a:solidFill>
                <a:latin typeface="Calibri" panose="020F0502020204030204"/>
              </a:rPr>
              <a:t>• Vấn đề: </a:t>
            </a:r>
            <a:r>
              <a:rPr sz="1850">
                <a:solidFill>
                  <a:srgbClr val="1E293B"/>
                </a:solidFill>
                <a:latin typeface="Calibri" panose="020F0502020204030204"/>
              </a:rPr>
              <a:t>LIDC-IDRI lưu từng bản vẽ &lt;roi&gt; rời rạc, chưa có mã ID chung cho mỗi khối u.</a:t>
            </a:r>
            <a:endParaRPr sz="1850">
              <a:solidFill>
                <a:srgbClr val="1E293B"/>
              </a:solidFill>
              <a:latin typeface="Calibri" panose="020F0502020204030204"/>
            </a:endParaRPr>
          </a:p>
          <a:p>
            <a:pPr>
              <a:spcAft>
                <a:spcPts val="1000"/>
              </a:spcAft>
            </a:pPr>
            <a:r>
              <a:rPr sz="1850" b="1">
                <a:solidFill>
                  <a:srgbClr val="0EA5E9"/>
                </a:solidFill>
                <a:latin typeface="Calibri" panose="020F0502020204030204"/>
              </a:rPr>
              <a:t>• Giải pháp: </a:t>
            </a:r>
            <a:r>
              <a:rPr sz="1850">
                <a:solidFill>
                  <a:srgbClr val="1E293B"/>
                </a:solidFill>
                <a:latin typeface="Calibri" panose="020F0502020204030204"/>
              </a:rPr>
              <a:t>Gom tham lam các ROI có tâm cách nhau ≤ 18px (~12.6 mm) vào cùng 1 khối u.</a:t>
            </a:r>
            <a:endParaRPr sz="185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12" name="!!card_2"/>
          <p:cNvSpPr/>
          <p:nvPr/>
        </p:nvSpPr>
        <p:spPr>
          <a:xfrm>
            <a:off x="6035040" y="3977640"/>
            <a:ext cx="5577840" cy="281559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card_2_stripe"/>
          <p:cNvSpPr/>
          <p:nvPr/>
        </p:nvSpPr>
        <p:spPr>
          <a:xfrm>
            <a:off x="6035040" y="3977639"/>
            <a:ext cx="5577840" cy="82296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card_2_title"/>
          <p:cNvSpPr txBox="1"/>
          <p:nvPr/>
        </p:nvSpPr>
        <p:spPr>
          <a:xfrm>
            <a:off x="6236207" y="4123944"/>
            <a:ext cx="517550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C59"/>
                </a:solidFill>
                <a:latin typeface="Calibri" panose="020F0502020204030204"/>
              </a:defRPr>
            </a:pPr>
            <a:r>
              <a:t>Lọc Nhãn Đồng Thuận Bác Sĩ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617720"/>
            <a:ext cx="51206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50" b="1">
                <a:solidFill>
                  <a:srgbClr val="10B981"/>
                </a:solidFill>
                <a:latin typeface="Calibri" panose="020F0502020204030204"/>
              </a:rPr>
              <a:t>• Lành tính (y = 0): </a:t>
            </a:r>
            <a:r>
              <a:rPr sz="1850">
                <a:solidFill>
                  <a:srgbClr val="1E293B"/>
                </a:solidFill>
                <a:latin typeface="Calibri" panose="020F0502020204030204"/>
              </a:rPr>
              <a:t>Điểm ác tính trung bình m̄ ≤ 2.5 (7.677 mẫu).</a:t>
            </a:r>
            <a:endParaRPr sz="1850">
              <a:solidFill>
                <a:srgbClr val="1E293B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1850" b="1">
                <a:solidFill>
                  <a:srgbClr val="E11D48"/>
                </a:solidFill>
                <a:latin typeface="Calibri" panose="020F0502020204030204"/>
              </a:rPr>
              <a:t>• Ác tính (y = 1): </a:t>
            </a:r>
            <a:r>
              <a:rPr sz="1850">
                <a:solidFill>
                  <a:srgbClr val="1E293B"/>
                </a:solidFill>
                <a:latin typeface="Calibri" panose="020F0502020204030204"/>
              </a:rPr>
              <a:t>Điểm ác tính trung bình m̄ ≥ 3.5 (10.527 mẫu).</a:t>
            </a:r>
            <a:endParaRPr sz="1850">
              <a:solidFill>
                <a:srgbClr val="1E293B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1850" b="1">
                <a:solidFill>
                  <a:srgbClr val="D97706"/>
                </a:solidFill>
                <a:latin typeface="Calibri" panose="020F0502020204030204"/>
              </a:rPr>
              <a:t>• Loại vùng mơ hồ: </a:t>
            </a:r>
            <a:r>
              <a:rPr sz="1850">
                <a:solidFill>
                  <a:srgbClr val="1E293B"/>
                </a:solidFill>
                <a:latin typeface="Calibri" panose="020F0502020204030204"/>
              </a:rPr>
              <a:t>Bỏ 2.5 &lt; m̄ &lt; 3.5 (23.6%) để chống nhiễu nhãn.</a:t>
            </a:r>
            <a:endParaRPr sz="1850">
              <a:solidFill>
                <a:srgbClr val="1E293B"/>
              </a:solidFill>
              <a:latin typeface="Calibri" panose="020F0502020204030204"/>
            </a:endParaRPr>
          </a:p>
        </p:txBody>
      </p:sp>
      <p:pic>
        <p:nvPicPr>
          <p:cNvPr id="26" name="!!header_logo"/>
          <p:cNvPicPr>
            <a:picLocks noChangeAspect="1"/>
          </p:cNvPicPr>
          <p:nvPr/>
        </p:nvPicPr>
        <p:blipFill>
          <a:blip r:embed="rId2"/>
          <a:srcRect r="70407"/>
          <a:stretch>
            <a:fillRect/>
          </a:stretch>
        </p:blipFill>
        <p:spPr>
          <a:xfrm>
            <a:off x="184785" y="77470"/>
            <a:ext cx="807720" cy="8966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900"/>
    </mc:Choice>
    <mc:Fallback>
      <p:transition spd="med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!!header_bar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accent_line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header_title"/>
          <p:cNvSpPr txBox="1"/>
          <p:nvPr/>
        </p:nvSpPr>
        <p:spPr>
          <a:xfrm>
            <a:off x="1097280" y="292608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 panose="020F0502020204030204"/>
              </a:defRPr>
            </a:pPr>
            <a:r>
              <a:t>3. TIỀN XỬ LÝ DỮ LIỆU ĐA TẦNG</a:t>
            </a:r>
          </a:p>
        </p:txBody>
      </p:sp>
      <p:sp>
        <p:nvSpPr>
          <p:cNvPr id="7" name="!!card_1"/>
          <p:cNvSpPr/>
          <p:nvPr/>
        </p:nvSpPr>
        <p:spPr>
          <a:xfrm>
            <a:off x="548640" y="1325880"/>
            <a:ext cx="530352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card_1_stripe"/>
          <p:cNvSpPr/>
          <p:nvPr/>
        </p:nvSpPr>
        <p:spPr>
          <a:xfrm>
            <a:off x="548640" y="1325880"/>
            <a:ext cx="5303520" cy="82296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card_1_title"/>
          <p:cNvSpPr txBox="1"/>
          <p:nvPr/>
        </p:nvSpPr>
        <p:spPr>
          <a:xfrm>
            <a:off x="749808" y="1472184"/>
            <a:ext cx="490118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C59"/>
                </a:solidFill>
                <a:latin typeface="Calibri" panose="020F0502020204030204"/>
              </a:defRPr>
            </a:pPr>
            <a:r>
              <a:t>7 Nhóm Đặc Trưng Định Lượng (56 Chiều)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4061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 b="1">
                <a:solidFill>
                  <a:srgbClr val="0F2C59"/>
                </a:solidFill>
                <a:latin typeface="Calibri" panose="020F0502020204030204"/>
              </a:rPr>
              <a:t>1. Vị trí &amp; Giải phẫu (4): </a:t>
            </a:r>
            <a:r>
              <a:rPr sz="1800">
                <a:solidFill>
                  <a:srgbClr val="1E293B"/>
                </a:solidFill>
                <a:latin typeface="Calibri" panose="020F0502020204030204"/>
              </a:rPr>
              <a:t>Tọa độ tâm x, y, cờ phổi phải, khoảng cách tâm ngực.</a:t>
            </a:r>
            <a:endParaRPr sz="1800">
              <a:solidFill>
                <a:srgbClr val="1E293B"/>
              </a:solidFill>
              <a:latin typeface="Calibri" panose="020F0502020204030204"/>
            </a:endParaRPr>
          </a:p>
          <a:p>
            <a:pPr>
              <a:spcAft>
                <a:spcPts val="1100"/>
              </a:spcAft>
            </a:pPr>
            <a:r>
              <a:rPr sz="1800" b="1">
                <a:solidFill>
                  <a:srgbClr val="0EA5E9"/>
                </a:solidFill>
                <a:latin typeface="Calibri" panose="020F0502020204030204"/>
              </a:rPr>
              <a:t>2. Kích thước &amp; Cụm 3D (7): </a:t>
            </a:r>
            <a:r>
              <a:rPr sz="1800">
                <a:solidFill>
                  <a:srgbClr val="1E293B"/>
                </a:solidFill>
                <a:latin typeface="Calibri" panose="020F0502020204030204"/>
              </a:rPr>
              <a:t>Diện tích, đường kính, diện tích max/mean cụm, số lát.</a:t>
            </a:r>
            <a:endParaRPr sz="1800">
              <a:solidFill>
                <a:srgbClr val="1E293B"/>
              </a:solidFill>
              <a:latin typeface="Calibri" panose="020F0502020204030204"/>
            </a:endParaRPr>
          </a:p>
          <a:p>
            <a:pPr>
              <a:spcAft>
                <a:spcPts val="1100"/>
              </a:spcAft>
            </a:pPr>
            <a:r>
              <a:rPr sz="1800" b="1">
                <a:solidFill>
                  <a:srgbClr val="10B981"/>
                </a:solidFill>
                <a:latin typeface="Calibri" panose="020F0502020204030204"/>
              </a:rPr>
              <a:t>3. Hình thái học 2D (4): </a:t>
            </a:r>
            <a:r>
              <a:rPr sz="1800">
                <a:solidFill>
                  <a:srgbClr val="1E293B"/>
                </a:solidFill>
                <a:latin typeface="Calibri" panose="020F0502020204030204"/>
              </a:rPr>
              <a:t>Độ tròn, tỷ lệ khung bao, độ đặc (solidity), chu vi.</a:t>
            </a:r>
            <a:endParaRPr sz="1800">
              <a:solidFill>
                <a:srgbClr val="1E293B"/>
              </a:solidFill>
              <a:latin typeface="Calibri" panose="020F0502020204030204"/>
            </a:endParaRPr>
          </a:p>
          <a:p>
            <a:pPr>
              <a:spcAft>
                <a:spcPts val="1100"/>
              </a:spcAft>
            </a:pPr>
            <a:r>
              <a:rPr sz="1800" b="1">
                <a:solidFill>
                  <a:srgbClr val="D97706"/>
                </a:solidFill>
                <a:latin typeface="Calibri" panose="020F0502020204030204"/>
              </a:rPr>
              <a:t>4. Mật độ &amp; Vành u (17): </a:t>
            </a:r>
            <a:r>
              <a:rPr sz="1800">
                <a:solidFill>
                  <a:srgbClr val="1E293B"/>
                </a:solidFill>
                <a:latin typeface="Calibri" panose="020F0502020204030204"/>
              </a:rPr>
              <a:t>Mean/Std/P90 3 cửa sổ HU + tương phản vành 3px &amp; Sobel.</a:t>
            </a:r>
            <a:endParaRPr sz="1800">
              <a:solidFill>
                <a:srgbClr val="1E293B"/>
              </a:solidFill>
              <a:latin typeface="Calibri" panose="020F0502020204030204"/>
            </a:endParaRPr>
          </a:p>
          <a:p>
            <a:pPr>
              <a:spcAft>
                <a:spcPts val="1100"/>
              </a:spcAft>
            </a:pPr>
            <a:r>
              <a:rPr sz="1800" b="1">
                <a:solidFill>
                  <a:srgbClr val="E11D48"/>
                </a:solidFill>
                <a:latin typeface="Calibri" panose="020F0502020204030204"/>
              </a:rPr>
              <a:t>5. Thuộc tính Bác sĩ (24): </a:t>
            </a:r>
            <a:r>
              <a:rPr sz="1800">
                <a:solidFill>
                  <a:srgbClr val="1E293B"/>
                </a:solidFill>
                <a:latin typeface="Calibri" panose="020F0502020204030204"/>
              </a:rPr>
              <a:t>8 thuộc tính vi thể (gai tua, vôi hóa...) kèm Mean/Max cụm.</a:t>
            </a:r>
            <a:endParaRPr sz="1800">
              <a:solidFill>
                <a:srgbClr val="1E293B"/>
              </a:solidFill>
              <a:latin typeface="Calibri" panose="020F0502020204030204"/>
            </a:endParaRPr>
          </a:p>
        </p:txBody>
      </p:sp>
      <p:pic>
        <p:nvPicPr>
          <p:cNvPr id="11" name="!!hero_visual" descr="illus_56_features_whee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529764"/>
            <a:ext cx="5577840" cy="4712870"/>
          </a:xfrm>
          <a:prstGeom prst="rect">
            <a:avLst/>
          </a:prstGeom>
        </p:spPr>
      </p:pic>
      <p:pic>
        <p:nvPicPr>
          <p:cNvPr id="26" name="!!header_logo"/>
          <p:cNvPicPr>
            <a:picLocks noChangeAspect="1"/>
          </p:cNvPicPr>
          <p:nvPr/>
        </p:nvPicPr>
        <p:blipFill>
          <a:blip r:embed="rId2"/>
          <a:srcRect r="70407"/>
          <a:stretch>
            <a:fillRect/>
          </a:stretch>
        </p:blipFill>
        <p:spPr>
          <a:xfrm>
            <a:off x="184785" y="77470"/>
            <a:ext cx="807720" cy="8966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900"/>
    </mc:Choice>
    <mc:Fallback>
      <p:transition spd="med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!!header_bar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accent_line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header_title"/>
          <p:cNvSpPr txBox="1"/>
          <p:nvPr/>
        </p:nvSpPr>
        <p:spPr>
          <a:xfrm>
            <a:off x="1097280" y="292608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 panose="020F0502020204030204"/>
              </a:defRPr>
            </a:pPr>
            <a:r>
              <a:t>4. KIẾN TRÚC MÔ HÌNH SOTA LAI</a:t>
            </a:r>
          </a:p>
        </p:txBody>
      </p:sp>
      <p:pic>
        <p:nvPicPr>
          <p:cNvPr id="7" name="!!hero_visual" descr="illus_hybrid_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8114"/>
            <a:ext cx="5760720" cy="4556170"/>
          </a:xfrm>
          <a:prstGeom prst="rect">
            <a:avLst/>
          </a:prstGeom>
        </p:spPr>
      </p:pic>
      <p:sp>
        <p:nvSpPr>
          <p:cNvPr id="8" name="!!card_1"/>
          <p:cNvSpPr/>
          <p:nvPr/>
        </p:nvSpPr>
        <p:spPr>
          <a:xfrm>
            <a:off x="6492240" y="1325880"/>
            <a:ext cx="5120640" cy="2423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card_1_stripe"/>
          <p:cNvSpPr/>
          <p:nvPr/>
        </p:nvSpPr>
        <p:spPr>
          <a:xfrm>
            <a:off x="6492240" y="1325880"/>
            <a:ext cx="5120640" cy="82296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card_1_title"/>
          <p:cNvSpPr txBox="1"/>
          <p:nvPr/>
        </p:nvSpPr>
        <p:spPr>
          <a:xfrm>
            <a:off x="6693407" y="1472184"/>
            <a:ext cx="471830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C59"/>
                </a:solidFill>
                <a:latin typeface="Calibri" panose="020F0502020204030204"/>
              </a:defRPr>
            </a:pPr>
            <a:r>
              <a:t>Nhánh 1: JointSegGatedDenseNet-121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196596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50" b="1">
                <a:solidFill>
                  <a:srgbClr val="0F2C59"/>
                </a:solidFill>
                <a:latin typeface="Calibri" panose="020F0502020204030204"/>
              </a:rPr>
              <a:t>• Học sâu Đa tác vụ: </a:t>
            </a:r>
            <a:r>
              <a:rPr sz="1850">
                <a:solidFill>
                  <a:srgbClr val="1E293B"/>
                </a:solidFill>
                <a:latin typeface="Calibri" panose="020F0502020204030204"/>
              </a:rPr>
              <a:t>Vừa khoanh vùng mặt nạ u 64×64 vừa phân loại.</a:t>
            </a:r>
            <a:endParaRPr sz="1850">
              <a:solidFill>
                <a:srgbClr val="1E293B"/>
              </a:solidFill>
              <a:latin typeface="Calibri" panose="020F0502020204030204"/>
            </a:endParaRPr>
          </a:p>
          <a:p>
            <a:pPr>
              <a:spcAft>
                <a:spcPts val="1000"/>
              </a:spcAft>
            </a:pPr>
            <a:r>
              <a:rPr sz="1850" b="1">
                <a:solidFill>
                  <a:srgbClr val="0EA5E9"/>
                </a:solidFill>
                <a:latin typeface="Calibri" panose="020F0502020204030204"/>
              </a:rPr>
              <a:t>• Trọng số trộn α* = 0.25: </a:t>
            </a:r>
            <a:r>
              <a:rPr sz="1850">
                <a:solidFill>
                  <a:srgbClr val="1E293B"/>
                </a:solidFill>
                <a:latin typeface="Calibri" panose="020F0502020204030204"/>
              </a:rPr>
              <a:t>Đóng góp 25% xác suất + 100% mặt nạ hình học.</a:t>
            </a:r>
            <a:endParaRPr sz="185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12" name="!!card_2"/>
          <p:cNvSpPr/>
          <p:nvPr/>
        </p:nvSpPr>
        <p:spPr>
          <a:xfrm>
            <a:off x="6492240" y="3977639"/>
            <a:ext cx="512064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card_2_stripe"/>
          <p:cNvSpPr/>
          <p:nvPr/>
        </p:nvSpPr>
        <p:spPr>
          <a:xfrm>
            <a:off x="6492240" y="3977639"/>
            <a:ext cx="5120640" cy="82296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card_2_title"/>
          <p:cNvSpPr txBox="1"/>
          <p:nvPr/>
        </p:nvSpPr>
        <p:spPr>
          <a:xfrm>
            <a:off x="6693407" y="4123944"/>
            <a:ext cx="471830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C59"/>
                </a:solidFill>
                <a:latin typeface="Calibri" panose="020F0502020204030204"/>
              </a:defRPr>
            </a:pPr>
            <a:r>
              <a:t>Nhánh 2: Radiomics Ensemble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4617720"/>
            <a:ext cx="4663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50" b="1">
                <a:solidFill>
                  <a:srgbClr val="E11D48"/>
                </a:solidFill>
                <a:latin typeface="Calibri" panose="020F0502020204030204"/>
              </a:rPr>
              <a:t>• Tổ hợp 4 mô hình cây: </a:t>
            </a:r>
            <a:r>
              <a:rPr sz="1850">
                <a:solidFill>
                  <a:srgbClr val="1E293B"/>
                </a:solidFill>
                <a:latin typeface="Calibri" panose="020F0502020204030204"/>
              </a:rPr>
              <a:t>HistGradBoost ×2 (0.65) + ExtraTrees (0.20) + RF (0.15).</a:t>
            </a:r>
            <a:endParaRPr sz="1850">
              <a:solidFill>
                <a:srgbClr val="1E293B"/>
              </a:solidFill>
              <a:latin typeface="Calibri" panose="020F0502020204030204"/>
            </a:endParaRPr>
          </a:p>
          <a:p>
            <a:pPr>
              <a:spcAft>
                <a:spcPts val="1000"/>
              </a:spcAft>
            </a:pPr>
            <a:r>
              <a:rPr sz="1850" b="1">
                <a:solidFill>
                  <a:srgbClr val="D97706"/>
                </a:solidFill>
                <a:latin typeface="Calibri" panose="020F0502020204030204"/>
              </a:rPr>
              <a:t>• Trọng số trộn 1-α* = 0.75: </a:t>
            </a:r>
            <a:r>
              <a:rPr sz="1850">
                <a:solidFill>
                  <a:srgbClr val="1E293B"/>
                </a:solidFill>
                <a:latin typeface="Calibri" panose="020F0502020204030204"/>
              </a:rPr>
              <a:t>Phạt nặng lớp ác tính (class_weight 1.55 – 1.65).</a:t>
            </a:r>
            <a:endParaRPr sz="1850">
              <a:solidFill>
                <a:srgbClr val="1E293B"/>
              </a:solidFill>
              <a:latin typeface="Calibri" panose="020F0502020204030204"/>
            </a:endParaRPr>
          </a:p>
        </p:txBody>
      </p:sp>
      <p:pic>
        <p:nvPicPr>
          <p:cNvPr id="26" name="!!header_logo"/>
          <p:cNvPicPr>
            <a:picLocks noChangeAspect="1"/>
          </p:cNvPicPr>
          <p:nvPr/>
        </p:nvPicPr>
        <p:blipFill>
          <a:blip r:embed="rId2"/>
          <a:srcRect r="70407"/>
          <a:stretch>
            <a:fillRect/>
          </a:stretch>
        </p:blipFill>
        <p:spPr>
          <a:xfrm>
            <a:off x="184785" y="77470"/>
            <a:ext cx="807720" cy="8966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900"/>
    </mc:Choice>
    <mc:Fallback>
      <p:transition spd="med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!!header_bar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accent_line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header_title"/>
          <p:cNvSpPr txBox="1"/>
          <p:nvPr/>
        </p:nvSpPr>
        <p:spPr>
          <a:xfrm>
            <a:off x="1097280" y="292608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 panose="020F0502020204030204"/>
              </a:defRPr>
            </a:pPr>
            <a:r>
              <a:t>4. KIẾN TRÚC MÔ HÌNH SOTA LAI</a:t>
            </a:r>
          </a:p>
        </p:txBody>
      </p:sp>
      <p:sp>
        <p:nvSpPr>
          <p:cNvPr id="7" name="!!card_1"/>
          <p:cNvSpPr/>
          <p:nvPr/>
        </p:nvSpPr>
        <p:spPr>
          <a:xfrm>
            <a:off x="548640" y="1325880"/>
            <a:ext cx="521208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card_1_stripe"/>
          <p:cNvSpPr/>
          <p:nvPr/>
        </p:nvSpPr>
        <p:spPr>
          <a:xfrm>
            <a:off x="548640" y="1325880"/>
            <a:ext cx="5212080" cy="82296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card_1_title"/>
          <p:cNvSpPr txBox="1"/>
          <p:nvPr/>
        </p:nvSpPr>
        <p:spPr>
          <a:xfrm>
            <a:off x="749808" y="1472184"/>
            <a:ext cx="48097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C59"/>
                </a:solidFill>
                <a:latin typeface="Calibri" panose="020F0502020204030204"/>
              </a:defRPr>
            </a:pPr>
            <a:r>
              <a:t>Kiến Trúc JointSegGatedDenseNet-121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62912"/>
            <a:ext cx="4754880" cy="4396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1850" b="1">
                <a:solidFill>
                  <a:srgbClr val="0F2C59"/>
                </a:solidFill>
                <a:latin typeface="Calibri" panose="020F0502020204030204"/>
              </a:rPr>
              <a:t>• Encoder DenseNet-121: </a:t>
            </a:r>
            <a:r>
              <a:rPr sz="1850">
                <a:solidFill>
                  <a:srgbClr val="1E293B"/>
                </a:solidFill>
                <a:latin typeface="Calibri" panose="020F0502020204030204"/>
              </a:rPr>
              <a:t>Trích xuất đặc trưng 5 mức tỷ lệ (32×32 → 2×2), 15.49 triệu tham số.</a:t>
            </a:r>
            <a:endParaRPr sz="1850">
              <a:solidFill>
                <a:srgbClr val="1E293B"/>
              </a:solidFill>
              <a:latin typeface="Calibri" panose="020F0502020204030204"/>
            </a:endParaRP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1850" b="1">
                <a:solidFill>
                  <a:srgbClr val="0EA5E9"/>
                </a:solidFill>
                <a:latin typeface="Calibri" panose="020F0502020204030204"/>
              </a:rPr>
              <a:t>• Module Chú ý CBAM: </a:t>
            </a:r>
            <a:r>
              <a:rPr sz="1850">
                <a:solidFill>
                  <a:srgbClr val="1E293B"/>
                </a:solidFill>
                <a:latin typeface="Calibri" panose="020F0502020204030204"/>
              </a:rPr>
              <a:t>Chú ý Kênh (Channel) + Không gian (Spatial 7×7) tại tầng sâu nhất.</a:t>
            </a:r>
            <a:endParaRPr sz="1850">
              <a:solidFill>
                <a:srgbClr val="1E293B"/>
              </a:solidFill>
              <a:latin typeface="Calibri" panose="020F0502020204030204"/>
            </a:endParaRP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1850" b="1">
                <a:solidFill>
                  <a:srgbClr val="10B981"/>
                </a:solidFill>
                <a:latin typeface="Calibri" panose="020F0502020204030204"/>
              </a:rPr>
              <a:t>• Decoder U-Net 5 Tầng: </a:t>
            </a:r>
            <a:r>
              <a:rPr sz="1850">
                <a:solidFill>
                  <a:srgbClr val="1E293B"/>
                </a:solidFill>
                <a:latin typeface="Calibri" panose="020F0502020204030204"/>
              </a:rPr>
              <a:t>Giải mã ngược qua kết nối tắt (Skip Connections) ra mặt nạ 64×64.</a:t>
            </a:r>
            <a:endParaRPr sz="1850">
              <a:solidFill>
                <a:srgbClr val="1E293B"/>
              </a:solidFill>
              <a:latin typeface="Calibri" panose="020F0502020204030204"/>
            </a:endParaRP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1850" b="1">
                <a:solidFill>
                  <a:srgbClr val="E11D48"/>
                </a:solidFill>
                <a:latin typeface="Calibri" panose="020F0502020204030204"/>
              </a:rPr>
              <a:t>• Clinical MLP &amp; Fusion: </a:t>
            </a:r>
            <a:r>
              <a:rPr sz="1850">
                <a:solidFill>
                  <a:srgbClr val="1E293B"/>
                </a:solidFill>
                <a:latin typeface="Calibri" panose="020F0502020204030204"/>
              </a:rPr>
              <a:t>Chiếu 56 đặc trưng qua MLP (56→256) điều khiển cổng chú ý 2048 chiều.</a:t>
            </a:r>
            <a:endParaRPr sz="1850">
              <a:solidFill>
                <a:srgbClr val="1E293B"/>
              </a:solidFill>
              <a:latin typeface="Calibri" panose="020F0502020204030204"/>
            </a:endParaRPr>
          </a:p>
        </p:txBody>
      </p:sp>
      <p:pic>
        <p:nvPicPr>
          <p:cNvPr id="11" name="!!hero_visual" descr="illus_unet_densenet_flo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660541"/>
            <a:ext cx="5669280" cy="4451317"/>
          </a:xfrm>
          <a:prstGeom prst="rect">
            <a:avLst/>
          </a:prstGeom>
        </p:spPr>
      </p:pic>
      <p:pic>
        <p:nvPicPr>
          <p:cNvPr id="26" name="!!header_logo"/>
          <p:cNvPicPr>
            <a:picLocks noChangeAspect="1"/>
          </p:cNvPicPr>
          <p:nvPr/>
        </p:nvPicPr>
        <p:blipFill>
          <a:blip r:embed="rId2"/>
          <a:srcRect r="70407"/>
          <a:stretch>
            <a:fillRect/>
          </a:stretch>
        </p:blipFill>
        <p:spPr>
          <a:xfrm>
            <a:off x="184785" y="77470"/>
            <a:ext cx="807720" cy="8966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900"/>
    </mc:Choice>
    <mc:Fallback>
      <p:transition spd="med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!!header_bar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accent_line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header_title"/>
          <p:cNvSpPr txBox="1"/>
          <p:nvPr/>
        </p:nvSpPr>
        <p:spPr>
          <a:xfrm>
            <a:off x="1097280" y="292608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 panose="020F0502020204030204"/>
              </a:defRPr>
            </a:pPr>
            <a:r>
              <a:t>4. KIẾN TRÚC MÔ HÌNH SOTA LAI</a:t>
            </a:r>
          </a:p>
        </p:txBody>
      </p:sp>
      <p:sp>
        <p:nvSpPr>
          <p:cNvPr id="7" name="!!card_1"/>
          <p:cNvSpPr/>
          <p:nvPr/>
        </p:nvSpPr>
        <p:spPr>
          <a:xfrm>
            <a:off x="548640" y="1280160"/>
            <a:ext cx="5394960" cy="2423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card_1_stripe"/>
          <p:cNvSpPr/>
          <p:nvPr/>
        </p:nvSpPr>
        <p:spPr>
          <a:xfrm>
            <a:off x="548640" y="1280160"/>
            <a:ext cx="5394960" cy="82296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card_1_title"/>
          <p:cNvSpPr txBox="1"/>
          <p:nvPr/>
        </p:nvSpPr>
        <p:spPr>
          <a:xfrm>
            <a:off x="749808" y="1426463"/>
            <a:ext cx="49926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C59"/>
                </a:solidFill>
                <a:latin typeface="Calibri" panose="020F0502020204030204"/>
              </a:defRPr>
            </a:pPr>
            <a:r>
              <a:t>1. Liên Kết Đa Phương Thức Độc Đáo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20240"/>
            <a:ext cx="49377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0F2C59"/>
                </a:solidFill>
                <a:latin typeface="Calibri" panose="020F0502020204030204"/>
              </a:rPr>
              <a:t>• Lesion-Attention Pooling: </a:t>
            </a:r>
            <a:r>
              <a:rPr sz="1800">
                <a:solidFill>
                  <a:srgbClr val="1E293B"/>
                </a:solidFill>
                <a:latin typeface="Calibri" panose="020F0502020204030204"/>
              </a:rPr>
              <a:t>Nhân đặc trưng với (0.5 + P_seg) → Khuếch đại lòng u 1.5 lần.</a:t>
            </a:r>
            <a:endParaRPr sz="1800">
              <a:solidFill>
                <a:srgbClr val="1E293B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EA5E9"/>
                </a:solidFill>
                <a:latin typeface="Calibri" panose="020F0502020204030204"/>
              </a:rPr>
              <a:t>• Cross-Modal Gate: </a:t>
            </a:r>
            <a:r>
              <a:rPr sz="1800">
                <a:solidFill>
                  <a:srgbClr val="1E293B"/>
                </a:solidFill>
                <a:latin typeface="Calibri" panose="020F0502020204030204"/>
              </a:rPr>
              <a:t>56 đặc trưng sinh cổng 2048 chiều lọc chọn lọc đặc trưng ảnh.</a:t>
            </a:r>
            <a:endParaRPr sz="180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11" name="!!card_2"/>
          <p:cNvSpPr/>
          <p:nvPr/>
        </p:nvSpPr>
        <p:spPr>
          <a:xfrm>
            <a:off x="6217920" y="1280160"/>
            <a:ext cx="5394960" cy="2423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card_2_stripe"/>
          <p:cNvSpPr/>
          <p:nvPr/>
        </p:nvSpPr>
        <p:spPr>
          <a:xfrm>
            <a:off x="6217920" y="1280160"/>
            <a:ext cx="5394960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card_2_title"/>
          <p:cNvSpPr txBox="1"/>
          <p:nvPr/>
        </p:nvSpPr>
        <p:spPr>
          <a:xfrm>
            <a:off x="6419088" y="1426463"/>
            <a:ext cx="49926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C59"/>
                </a:solidFill>
                <a:latin typeface="Calibri" panose="020F0502020204030204"/>
              </a:defRPr>
            </a:pPr>
            <a:r>
              <a:t>2. Tinh Chỉnh Mặt Nạ Hình Thái Học HU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920240"/>
            <a:ext cx="49377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10B981"/>
                </a:solidFill>
                <a:latin typeface="Calibri" panose="020F0502020204030204"/>
              </a:rPr>
              <a:t>• Hợp nhất độ nổi HU: </a:t>
            </a:r>
            <a:r>
              <a:rPr sz="1800">
                <a:solidFill>
                  <a:srgbClr val="1E293B"/>
                </a:solidFill>
                <a:latin typeface="Calibri" panose="020F0502020204030204"/>
              </a:rPr>
              <a:t>P_final = 0.88 × P_net + 0.12 × Salience_HU (Gaussian σ=14.5).</a:t>
            </a:r>
            <a:endParaRPr sz="1800">
              <a:solidFill>
                <a:srgbClr val="1E293B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E11D48"/>
                </a:solidFill>
                <a:latin typeface="Calibri" panose="020F0502020204030204"/>
              </a:rPr>
              <a:t>• Đóng hình thái 3×3: </a:t>
            </a:r>
            <a:r>
              <a:rPr sz="1800">
                <a:solidFill>
                  <a:srgbClr val="1E293B"/>
                </a:solidFill>
                <a:latin typeface="Calibri" panose="020F0502020204030204"/>
              </a:rPr>
              <a:t>Giữ vùng liên thông tâm u &amp; đóng khe hẹp bám sát bờ gai tua.</a:t>
            </a:r>
            <a:endParaRPr sz="1800">
              <a:solidFill>
                <a:srgbClr val="1E293B"/>
              </a:solidFill>
              <a:latin typeface="Calibri" panose="020F0502020204030204"/>
            </a:endParaRPr>
          </a:p>
        </p:txBody>
      </p:sp>
      <p:pic>
        <p:nvPicPr>
          <p:cNvPr id="15" name="!!hero_visual" descr="illus_gating_salienc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7959" y="3840480"/>
            <a:ext cx="6665601" cy="2651760"/>
          </a:xfrm>
          <a:prstGeom prst="rect">
            <a:avLst/>
          </a:prstGeom>
        </p:spPr>
      </p:pic>
      <p:pic>
        <p:nvPicPr>
          <p:cNvPr id="26" name="!!header_logo"/>
          <p:cNvPicPr>
            <a:picLocks noChangeAspect="1"/>
          </p:cNvPicPr>
          <p:nvPr/>
        </p:nvPicPr>
        <p:blipFill>
          <a:blip r:embed="rId2"/>
          <a:srcRect r="70407"/>
          <a:stretch>
            <a:fillRect/>
          </a:stretch>
        </p:blipFill>
        <p:spPr>
          <a:xfrm>
            <a:off x="184785" y="77470"/>
            <a:ext cx="807720" cy="8966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900"/>
    </mc:Choice>
    <mc:Fallback>
      <p:transition spd="med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!!header_bar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accent_line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header_title"/>
          <p:cNvSpPr txBox="1"/>
          <p:nvPr/>
        </p:nvSpPr>
        <p:spPr>
          <a:xfrm>
            <a:off x="1097280" y="292608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 panose="020F0502020204030204"/>
              </a:defRPr>
            </a:pPr>
            <a:r>
              <a:t>4. KIẾN TRÚC MÔ HÌNH SOTA LAI</a:t>
            </a:r>
          </a:p>
        </p:txBody>
      </p:sp>
      <p:sp>
        <p:nvSpPr>
          <p:cNvPr id="7" name="!!card_1"/>
          <p:cNvSpPr/>
          <p:nvPr/>
        </p:nvSpPr>
        <p:spPr>
          <a:xfrm>
            <a:off x="548640" y="1325880"/>
            <a:ext cx="566928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card_1_stripe"/>
          <p:cNvSpPr/>
          <p:nvPr/>
        </p:nvSpPr>
        <p:spPr>
          <a:xfrm>
            <a:off x="548640" y="1325880"/>
            <a:ext cx="5669280" cy="82296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card_1_title"/>
          <p:cNvSpPr txBox="1"/>
          <p:nvPr/>
        </p:nvSpPr>
        <p:spPr>
          <a:xfrm>
            <a:off x="749808" y="1472184"/>
            <a:ext cx="52669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C59"/>
                </a:solidFill>
                <a:latin typeface="Calibri" panose="020F0502020204030204"/>
              </a:defRPr>
            </a:pPr>
            <a:r>
              <a:t>Hàm Mất Mát &amp; Quy Trình Không Rò Rỉ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65960"/>
            <a:ext cx="5212080" cy="3115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1850" b="1">
                <a:solidFill>
                  <a:srgbClr val="0F2C59"/>
                </a:solidFill>
                <a:latin typeface="Calibri" panose="020F0502020204030204"/>
              </a:rPr>
              <a:t>• Hàm mất mát đa tác vụ: </a:t>
            </a:r>
            <a:r>
              <a:rPr sz="1850">
                <a:solidFill>
                  <a:srgbClr val="1E293B"/>
                </a:solidFill>
                <a:latin typeface="Calibri" panose="020F0502020204030204"/>
              </a:rPr>
              <a:t>L_total = L_AsymFocal + 0.65 × (L_Dice + L_BCE).</a:t>
            </a:r>
            <a:endParaRPr sz="1850">
              <a:solidFill>
                <a:srgbClr val="1E293B"/>
              </a:solidFill>
              <a:latin typeface="Calibri" panose="020F0502020204030204"/>
            </a:endParaRPr>
          </a:p>
          <a:p>
            <a:pPr>
              <a:spcAft>
                <a:spcPts val="1200"/>
              </a:spcAft>
            </a:pPr>
            <a:r>
              <a:rPr sz="1850" b="1">
                <a:solidFill>
                  <a:srgbClr val="E11D48"/>
                </a:solidFill>
                <a:latin typeface="Calibri" panose="020F0502020204030204"/>
              </a:rPr>
              <a:t>• Asymmetric Focal Loss: </a:t>
            </a:r>
            <a:r>
              <a:rPr sz="1850">
                <a:solidFill>
                  <a:srgbClr val="1E293B"/>
                </a:solidFill>
                <a:latin typeface="Calibri" panose="020F0502020204030204"/>
              </a:rPr>
              <a:t>pos_weight = 1.8, γ+ = 2.0, γ- = 1.0 → Phạt cực nặng lỗi sót u ác tính.</a:t>
            </a:r>
            <a:endParaRPr sz="1850">
              <a:solidFill>
                <a:srgbClr val="1E293B"/>
              </a:solidFill>
              <a:latin typeface="Calibri" panose="020F0502020204030204"/>
            </a:endParaRPr>
          </a:p>
          <a:p>
            <a:pPr>
              <a:spcAft>
                <a:spcPts val="1200"/>
              </a:spcAft>
            </a:pPr>
            <a:r>
              <a:rPr sz="1850" b="1">
                <a:solidFill>
                  <a:srgbClr val="0EA5E9"/>
                </a:solidFill>
                <a:latin typeface="Calibri" panose="020F0502020204030204"/>
              </a:rPr>
              <a:t>• Chuẩn hóa chống rò rỉ: </a:t>
            </a:r>
            <a:r>
              <a:rPr sz="1850">
                <a:solidFill>
                  <a:srgbClr val="1E293B"/>
                </a:solidFill>
                <a:latin typeface="Calibri" panose="020F0502020204030204"/>
              </a:rPr>
              <a:t>StandardScaler chỉ fit trên Train; tối ưu α*=0.25, T*=0.495 trên Val.</a:t>
            </a:r>
            <a:endParaRPr sz="1850">
              <a:solidFill>
                <a:srgbClr val="1E293B"/>
              </a:solidFill>
              <a:latin typeface="Calibri" panose="020F0502020204030204"/>
            </a:endParaRPr>
          </a:p>
          <a:p>
            <a:pPr>
              <a:spcAft>
                <a:spcPts val="1200"/>
              </a:spcAft>
            </a:pPr>
            <a:r>
              <a:rPr sz="1850" b="1">
                <a:solidFill>
                  <a:srgbClr val="10B981"/>
                </a:solidFill>
                <a:latin typeface="Calibri" panose="020F0502020204030204"/>
              </a:rPr>
              <a:t>• Suy luận 4-Way TTA: </a:t>
            </a:r>
            <a:r>
              <a:rPr sz="1850">
                <a:solidFill>
                  <a:srgbClr val="1E293B"/>
                </a:solidFill>
                <a:latin typeface="Calibri" panose="020F0502020204030204"/>
              </a:rPr>
              <a:t>Trung bình hóa dự đoán trên 4 góc lật/xoay giúp ổn định biên u.</a:t>
            </a:r>
            <a:endParaRPr sz="1850">
              <a:solidFill>
                <a:srgbClr val="1E293B"/>
              </a:solidFill>
              <a:latin typeface="Calibri" panose="020F0502020204030204"/>
            </a:endParaRPr>
          </a:p>
        </p:txBody>
      </p:sp>
      <p:pic>
        <p:nvPicPr>
          <p:cNvPr id="11" name="!!hero_visual" descr="illus_loss_and_tt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7142" y="1325880"/>
            <a:ext cx="4959394" cy="5120640"/>
          </a:xfrm>
          <a:prstGeom prst="rect">
            <a:avLst/>
          </a:prstGeom>
        </p:spPr>
      </p:pic>
      <p:pic>
        <p:nvPicPr>
          <p:cNvPr id="26" name="!!header_logo"/>
          <p:cNvPicPr>
            <a:picLocks noChangeAspect="1"/>
          </p:cNvPicPr>
          <p:nvPr/>
        </p:nvPicPr>
        <p:blipFill>
          <a:blip r:embed="rId2"/>
          <a:srcRect r="70407"/>
          <a:stretch>
            <a:fillRect/>
          </a:stretch>
        </p:blipFill>
        <p:spPr>
          <a:xfrm>
            <a:off x="184785" y="77470"/>
            <a:ext cx="807720" cy="8966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900"/>
    </mc:Choice>
    <mc:Fallback>
      <p:transition spd="med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!!header_bar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accent_line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!!header_logo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3152"/>
            <a:ext cx="804672" cy="896112"/>
          </a:xfrm>
          <a:prstGeom prst="rect">
            <a:avLst/>
          </a:prstGeom>
        </p:spPr>
      </p:pic>
      <p:sp>
        <p:nvSpPr>
          <p:cNvPr id="5" name="!!header_title"/>
          <p:cNvSpPr txBox="1"/>
          <p:nvPr/>
        </p:nvSpPr>
        <p:spPr>
          <a:xfrm>
            <a:off x="1097280" y="292608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 panose="020F0502020204030204"/>
              </a:defRPr>
            </a:pPr>
            <a:r>
              <a:t>5. KẾT QUẢ THỰC NGHIỆM &amp; ĐÁNH GIÁ</a:t>
            </a:r>
          </a:p>
        </p:txBody>
      </p:sp>
      <p:sp>
        <p:nvSpPr>
          <p:cNvPr id="6" name="!!section_pill"/>
          <p:cNvSpPr/>
          <p:nvPr/>
        </p:nvSpPr>
        <p:spPr>
          <a:xfrm>
            <a:off x="9144000" y="274320"/>
            <a:ext cx="2468880" cy="50292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 panose="020F0502020204030204"/>
              </a:defRPr>
            </a:pPr>
            <a:r>
              <a:t>QUÁ TRÌNH HUẤN LUYỆN</a:t>
            </a:r>
          </a:p>
        </p:txBody>
      </p:sp>
      <p:pic>
        <p:nvPicPr>
          <p:cNvPr id="7" name="!!hero_visual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98292"/>
            <a:ext cx="11091672" cy="2898959"/>
          </a:xfrm>
          <a:prstGeom prst="rect">
            <a:avLst/>
          </a:prstGeom>
        </p:spPr>
      </p:pic>
      <p:sp>
        <p:nvSpPr>
          <p:cNvPr id="8" name="!!card_1"/>
          <p:cNvSpPr/>
          <p:nvPr/>
        </p:nvSpPr>
        <p:spPr>
          <a:xfrm>
            <a:off x="548640" y="4389120"/>
            <a:ext cx="356616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card_1_stripe"/>
          <p:cNvSpPr/>
          <p:nvPr/>
        </p:nvSpPr>
        <p:spPr>
          <a:xfrm>
            <a:off x="548640" y="4389120"/>
            <a:ext cx="3566160" cy="82296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card_1_title"/>
          <p:cNvSpPr txBox="1"/>
          <p:nvPr/>
        </p:nvSpPr>
        <p:spPr>
          <a:xfrm>
            <a:off x="749808" y="4535424"/>
            <a:ext cx="31638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C59"/>
                </a:solidFill>
                <a:latin typeface="Calibri" panose="020F0502020204030204"/>
              </a:defRPr>
            </a:pPr>
            <a:r>
              <a:t>Hội Tụ Nhanh (5.3 Phút)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02920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>
                <a:solidFill>
                  <a:srgbClr val="1E293B"/>
                </a:solidFill>
                <a:latin typeface="Calibri" panose="020F0502020204030204"/>
              </a:rPr>
              <a:t>Train Loss giảm mạnh từ 0.51 xuống 0.12 trên GPU RTX 3050 (FP16).</a:t>
            </a:r>
            <a:endParaRPr sz="180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12" name="!!card_2"/>
          <p:cNvSpPr/>
          <p:nvPr/>
        </p:nvSpPr>
        <p:spPr>
          <a:xfrm>
            <a:off x="4315968" y="4389120"/>
            <a:ext cx="356616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card_2_stripe"/>
          <p:cNvSpPr/>
          <p:nvPr/>
        </p:nvSpPr>
        <p:spPr>
          <a:xfrm>
            <a:off x="4315968" y="4389120"/>
            <a:ext cx="3566160" cy="8229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card_2_title"/>
          <p:cNvSpPr txBox="1"/>
          <p:nvPr/>
        </p:nvSpPr>
        <p:spPr>
          <a:xfrm>
            <a:off x="4517136" y="4535424"/>
            <a:ext cx="31638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C59"/>
                </a:solidFill>
                <a:latin typeface="Calibri" panose="020F0502020204030204"/>
              </a:defRPr>
            </a:pPr>
            <a:r>
              <a:t>Val Accuracy Đạt 95.98%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502920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>
                <a:solidFill>
                  <a:srgbClr val="1E293B"/>
                </a:solidFill>
                <a:latin typeface="Calibri" panose="020F0502020204030204"/>
              </a:rPr>
              <a:t>Val ROC-AUC duy trì mức xuất sắc &gt; 0.990 ngay từ các epoch đầu.</a:t>
            </a:r>
            <a:endParaRPr sz="180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16" name="!!card_3"/>
          <p:cNvSpPr/>
          <p:nvPr/>
        </p:nvSpPr>
        <p:spPr>
          <a:xfrm>
            <a:off x="8083296" y="4389120"/>
            <a:ext cx="356616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!!card_3_stripe"/>
          <p:cNvSpPr/>
          <p:nvPr/>
        </p:nvSpPr>
        <p:spPr>
          <a:xfrm>
            <a:off x="8083296" y="4389120"/>
            <a:ext cx="3566160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!!card_3_title"/>
          <p:cNvSpPr txBox="1"/>
          <p:nvPr/>
        </p:nvSpPr>
        <p:spPr>
          <a:xfrm>
            <a:off x="8284464" y="4535424"/>
            <a:ext cx="31638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C59"/>
                </a:solidFill>
                <a:latin typeface="Calibri" panose="020F0502020204030204"/>
              </a:defRPr>
            </a:pPr>
            <a:r>
              <a:t>Val Dice Tăng Lên 83.61%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5" y="502920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>
                <a:solidFill>
                  <a:srgbClr val="1E293B"/>
                </a:solidFill>
                <a:latin typeface="Calibri" panose="020F0502020204030204"/>
              </a:rPr>
              <a:t>Nhánh khoanh vùng cải thiện bền bỉ qua cả 8 epoch (IoU đạt 73.68%).</a:t>
            </a:r>
            <a:endParaRPr sz="1800">
              <a:solidFill>
                <a:srgbClr val="1E293B"/>
              </a:solidFill>
              <a:latin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900"/>
    </mc:Choice>
    <mc:Fallback>
      <p:transition spd="med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!!header_bar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accent_line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header_title"/>
          <p:cNvSpPr txBox="1"/>
          <p:nvPr/>
        </p:nvSpPr>
        <p:spPr>
          <a:xfrm>
            <a:off x="1097280" y="292608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 panose="020F0502020204030204"/>
              </a:defRPr>
            </a:pPr>
            <a:r>
              <a:t>5. KẾT QUẢ THỰC NGHIỆM &amp; ĐÁNH GIÁ</a:t>
            </a:r>
          </a:p>
        </p:txBody>
      </p:sp>
      <p:pic>
        <p:nvPicPr>
          <p:cNvPr id="7" name="!!hero_visual" descr="crop_roc_p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143" y="1234440"/>
            <a:ext cx="10016665" cy="3749039"/>
          </a:xfrm>
          <a:prstGeom prst="rect">
            <a:avLst/>
          </a:prstGeom>
        </p:spPr>
      </p:pic>
      <p:sp>
        <p:nvSpPr>
          <p:cNvPr id="8" name="!!card_1"/>
          <p:cNvSpPr/>
          <p:nvPr/>
        </p:nvSpPr>
        <p:spPr>
          <a:xfrm>
            <a:off x="548640" y="5102352"/>
            <a:ext cx="2615184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card_1_stripe"/>
          <p:cNvSpPr/>
          <p:nvPr/>
        </p:nvSpPr>
        <p:spPr>
          <a:xfrm>
            <a:off x="548640" y="5102352"/>
            <a:ext cx="2615184" cy="82296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193792"/>
            <a:ext cx="2432304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F2C59"/>
                </a:solidFill>
              </a:defRPr>
            </a:pPr>
            <a:r>
              <a:t>92.89%</a:t>
            </a:r>
          </a:p>
          <a:p>
            <a:pPr algn="ctr">
              <a:defRPr sz="1450" b="1">
                <a:solidFill>
                  <a:srgbClr val="1E293B"/>
                </a:solidFill>
              </a:defRPr>
            </a:pPr>
            <a:r>
              <a:t>ACCURACY (3.108 MẪU)</a:t>
            </a:r>
          </a:p>
        </p:txBody>
      </p:sp>
      <p:sp>
        <p:nvSpPr>
          <p:cNvPr id="11" name="!!card_2"/>
          <p:cNvSpPr/>
          <p:nvPr/>
        </p:nvSpPr>
        <p:spPr>
          <a:xfrm>
            <a:off x="3374136" y="5102352"/>
            <a:ext cx="2615184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card_2_stripe"/>
          <p:cNvSpPr/>
          <p:nvPr/>
        </p:nvSpPr>
        <p:spPr>
          <a:xfrm>
            <a:off x="3374136" y="5102352"/>
            <a:ext cx="2615184" cy="82296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65576" y="5193792"/>
            <a:ext cx="2432304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E11D48"/>
                </a:solidFill>
              </a:defRPr>
            </a:pPr>
            <a:r>
              <a:t>95.43%</a:t>
            </a:r>
          </a:p>
          <a:p>
            <a:pPr algn="ctr">
              <a:defRPr sz="1450" b="1">
                <a:solidFill>
                  <a:srgbClr val="1E293B"/>
                </a:solidFill>
              </a:defRPr>
            </a:pPr>
            <a:r>
              <a:t>SENSITIVITY (1.838/1.926)</a:t>
            </a:r>
          </a:p>
        </p:txBody>
      </p:sp>
      <p:sp>
        <p:nvSpPr>
          <p:cNvPr id="14" name="!!card_3"/>
          <p:cNvSpPr/>
          <p:nvPr/>
        </p:nvSpPr>
        <p:spPr>
          <a:xfrm>
            <a:off x="6199631" y="5102352"/>
            <a:ext cx="2615184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card_3_stripe"/>
          <p:cNvSpPr/>
          <p:nvPr/>
        </p:nvSpPr>
        <p:spPr>
          <a:xfrm>
            <a:off x="6199631" y="5102352"/>
            <a:ext cx="2615184" cy="8229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1071" y="5193792"/>
            <a:ext cx="2432304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D97706"/>
                </a:solidFill>
              </a:defRPr>
            </a:pPr>
            <a:r>
              <a:t>4.57%</a:t>
            </a:r>
          </a:p>
          <a:p>
            <a:pPr algn="ctr">
              <a:defRPr sz="1450" b="1">
                <a:solidFill>
                  <a:srgbClr val="1E293B"/>
                </a:solidFill>
              </a:defRPr>
            </a:pPr>
            <a:r>
              <a:t>TỶ LỆ BỎ SÓT (CHỈ 88 CA)</a:t>
            </a:r>
          </a:p>
        </p:txBody>
      </p:sp>
      <p:sp>
        <p:nvSpPr>
          <p:cNvPr id="17" name="!!card_4"/>
          <p:cNvSpPr/>
          <p:nvPr/>
        </p:nvSpPr>
        <p:spPr>
          <a:xfrm>
            <a:off x="9025128" y="5102352"/>
            <a:ext cx="2615184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!!card_4_stripe"/>
          <p:cNvSpPr/>
          <p:nvPr/>
        </p:nvSpPr>
        <p:spPr>
          <a:xfrm>
            <a:off x="9025128" y="5102352"/>
            <a:ext cx="2615184" cy="8229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16567" y="5193792"/>
            <a:ext cx="2432304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EA5E9"/>
                </a:solidFill>
              </a:defRPr>
            </a:pPr>
            <a:r>
              <a:t>0.9827</a:t>
            </a:r>
          </a:p>
          <a:p>
            <a:pPr algn="ctr">
              <a:defRPr sz="1450" b="1">
                <a:solidFill>
                  <a:srgbClr val="1E293B"/>
                </a:solidFill>
              </a:defRPr>
            </a:pPr>
            <a:r>
              <a:t>ROC-AUC (PR-AUC 0.99)</a:t>
            </a:r>
          </a:p>
        </p:txBody>
      </p:sp>
      <p:pic>
        <p:nvPicPr>
          <p:cNvPr id="26" name="!!header_logo"/>
          <p:cNvPicPr>
            <a:picLocks noChangeAspect="1"/>
          </p:cNvPicPr>
          <p:nvPr/>
        </p:nvPicPr>
        <p:blipFill>
          <a:blip r:embed="rId2"/>
          <a:srcRect r="70407"/>
          <a:stretch>
            <a:fillRect/>
          </a:stretch>
        </p:blipFill>
        <p:spPr>
          <a:xfrm>
            <a:off x="184785" y="77470"/>
            <a:ext cx="807720" cy="8966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900"/>
    </mc:Choice>
    <mc:Fallback>
      <p:transition spd="med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!!header_bar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accent_line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header_title"/>
          <p:cNvSpPr txBox="1"/>
          <p:nvPr/>
        </p:nvSpPr>
        <p:spPr>
          <a:xfrm>
            <a:off x="1097280" y="292608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 panose="020F0502020204030204"/>
              </a:defRPr>
            </a:pPr>
            <a:r>
              <a:t>5. KẾT QUẢ THỰC NGHIỆM &amp; ĐÁNH GIÁ</a:t>
            </a:r>
          </a:p>
        </p:txBody>
      </p:sp>
      <p:pic>
        <p:nvPicPr>
          <p:cNvPr id="7" name="!!hero_visual" descr="crop_cm_dic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515" y="1234440"/>
            <a:ext cx="9621920" cy="3749039"/>
          </a:xfrm>
          <a:prstGeom prst="rect">
            <a:avLst/>
          </a:prstGeom>
        </p:spPr>
      </p:pic>
      <p:sp>
        <p:nvSpPr>
          <p:cNvPr id="8" name="!!card_1"/>
          <p:cNvSpPr/>
          <p:nvPr/>
        </p:nvSpPr>
        <p:spPr>
          <a:xfrm>
            <a:off x="548640" y="5102352"/>
            <a:ext cx="356616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card_1_stripe"/>
          <p:cNvSpPr/>
          <p:nvPr/>
        </p:nvSpPr>
        <p:spPr>
          <a:xfrm>
            <a:off x="548640" y="5102352"/>
            <a:ext cx="3566160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card_1_title"/>
          <p:cNvSpPr txBox="1"/>
          <p:nvPr/>
        </p:nvSpPr>
        <p:spPr>
          <a:xfrm>
            <a:off x="749808" y="5248656"/>
            <a:ext cx="31638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C59"/>
                </a:solidFill>
                <a:latin typeface="Calibri" panose="020F0502020204030204"/>
              </a:defRPr>
            </a:pPr>
            <a:r>
              <a:t>Mean Dice: 81.95%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5650992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50">
                <a:solidFill>
                  <a:srgbClr val="1E293B"/>
                </a:solidFill>
                <a:latin typeface="Calibri" panose="020F0502020204030204"/>
              </a:rPr>
              <a:t>Median Dice đạt 86.62% (Mean IoU 71.81%) — bám sát viền bác sĩ.</a:t>
            </a:r>
            <a:endParaRPr sz="165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12" name="!!card_2"/>
          <p:cNvSpPr/>
          <p:nvPr/>
        </p:nvSpPr>
        <p:spPr>
          <a:xfrm>
            <a:off x="4315968" y="5102352"/>
            <a:ext cx="356616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card_2_stripe"/>
          <p:cNvSpPr/>
          <p:nvPr/>
        </p:nvSpPr>
        <p:spPr>
          <a:xfrm>
            <a:off x="4315968" y="5102352"/>
            <a:ext cx="3566160" cy="82296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card_2_title"/>
          <p:cNvSpPr txBox="1"/>
          <p:nvPr/>
        </p:nvSpPr>
        <p:spPr>
          <a:xfrm>
            <a:off x="4517136" y="5248656"/>
            <a:ext cx="31638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C59"/>
                </a:solidFill>
                <a:latin typeface="Calibri" panose="020F0502020204030204"/>
              </a:defRPr>
            </a:pPr>
            <a:r>
              <a:t>Bắt Đúng 1.838 Ca Ác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5650992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50">
                <a:solidFill>
                  <a:srgbClr val="1E293B"/>
                </a:solidFill>
                <a:latin typeface="Calibri" panose="020F0502020204030204"/>
              </a:rPr>
              <a:t>Chỉ sót 88 ca (FNR 4.57%); nhận diện đúng 1.049/1.182 ca lành tính.</a:t>
            </a:r>
            <a:endParaRPr sz="165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16" name="!!card_3"/>
          <p:cNvSpPr/>
          <p:nvPr/>
        </p:nvSpPr>
        <p:spPr>
          <a:xfrm>
            <a:off x="8083296" y="5102352"/>
            <a:ext cx="356616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!!card_3_stripe"/>
          <p:cNvSpPr/>
          <p:nvPr/>
        </p:nvSpPr>
        <p:spPr>
          <a:xfrm>
            <a:off x="8083296" y="5102352"/>
            <a:ext cx="3566160" cy="82296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!!card_3_title"/>
          <p:cNvSpPr txBox="1"/>
          <p:nvPr/>
        </p:nvSpPr>
        <p:spPr>
          <a:xfrm>
            <a:off x="8284464" y="5248656"/>
            <a:ext cx="31638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C59"/>
                </a:solidFill>
                <a:latin typeface="Calibri" panose="020F0502020204030204"/>
              </a:defRPr>
            </a:pPr>
            <a:r>
              <a:t>Đánh Đổi An Toàn 1.5 :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5650992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50">
                <a:solidFill>
                  <a:srgbClr val="1E293B"/>
                </a:solidFill>
                <a:latin typeface="Calibri" panose="020F0502020204030204"/>
              </a:rPr>
              <a:t>Chấp nhận 133 ca báo nhầm (FP) để không bỏ lọt bệnh nhân ung thư.</a:t>
            </a:r>
            <a:endParaRPr sz="1650">
              <a:solidFill>
                <a:srgbClr val="1E293B"/>
              </a:solidFill>
              <a:latin typeface="Calibri" panose="020F0502020204030204"/>
            </a:endParaRPr>
          </a:p>
        </p:txBody>
      </p:sp>
      <p:pic>
        <p:nvPicPr>
          <p:cNvPr id="26" name="!!header_logo"/>
          <p:cNvPicPr>
            <a:picLocks noChangeAspect="1"/>
          </p:cNvPicPr>
          <p:nvPr/>
        </p:nvPicPr>
        <p:blipFill>
          <a:blip r:embed="rId2"/>
          <a:srcRect r="70407"/>
          <a:stretch>
            <a:fillRect/>
          </a:stretch>
        </p:blipFill>
        <p:spPr>
          <a:xfrm>
            <a:off x="184785" y="77470"/>
            <a:ext cx="807720" cy="8966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900"/>
    </mc:Choice>
    <mc:Fallback>
      <p:transition spd="med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!!header_bar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accent_line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!!header_logo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3152"/>
            <a:ext cx="804672" cy="896112"/>
          </a:xfrm>
          <a:prstGeom prst="rect">
            <a:avLst/>
          </a:prstGeom>
        </p:spPr>
      </p:pic>
      <p:sp>
        <p:nvSpPr>
          <p:cNvPr id="5" name="!!header_title"/>
          <p:cNvSpPr txBox="1"/>
          <p:nvPr/>
        </p:nvSpPr>
        <p:spPr>
          <a:xfrm>
            <a:off x="1097280" y="292608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 panose="020F0502020204030204"/>
              </a:defRPr>
            </a:pPr>
            <a:r>
              <a:t>5. KẾT QUẢ THỰC NGHIỆM &amp; ĐÁNH GIÁ</a:t>
            </a:r>
          </a:p>
        </p:txBody>
      </p:sp>
      <p:sp>
        <p:nvSpPr>
          <p:cNvPr id="6" name="!!section_pill"/>
          <p:cNvSpPr/>
          <p:nvPr/>
        </p:nvSpPr>
        <p:spPr>
          <a:xfrm>
            <a:off x="9326880" y="274320"/>
            <a:ext cx="2468880" cy="50292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 panose="020F0502020204030204"/>
              </a:defRPr>
            </a:pPr>
            <a:r>
              <a:t>ABLATION STUDY</a:t>
            </a:r>
          </a:p>
        </p:txBody>
      </p:sp>
      <p:pic>
        <p:nvPicPr>
          <p:cNvPr id="7" name="!!hero_visual" descr="illus_ablatio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3687"/>
            <a:ext cx="5760720" cy="4385025"/>
          </a:xfrm>
          <a:prstGeom prst="rect">
            <a:avLst/>
          </a:prstGeom>
        </p:spPr>
      </p:pic>
      <p:sp>
        <p:nvSpPr>
          <p:cNvPr id="8" name="!!card_1"/>
          <p:cNvSpPr/>
          <p:nvPr/>
        </p:nvSpPr>
        <p:spPr>
          <a:xfrm>
            <a:off x="6492240" y="1325880"/>
            <a:ext cx="512064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card_1_stripe"/>
          <p:cNvSpPr/>
          <p:nvPr/>
        </p:nvSpPr>
        <p:spPr>
          <a:xfrm>
            <a:off x="6492240" y="1325880"/>
            <a:ext cx="5120640" cy="82296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card_1_title"/>
          <p:cNvSpPr txBox="1"/>
          <p:nvPr/>
        </p:nvSpPr>
        <p:spPr>
          <a:xfrm>
            <a:off x="6693407" y="1472184"/>
            <a:ext cx="471830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C59"/>
                </a:solidFill>
                <a:latin typeface="Calibri" panose="020F0502020204030204"/>
              </a:defRPr>
            </a:pPr>
            <a:r>
              <a:t>Bước Nhảy Hiệu Năng Cốt Lõi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01168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50" b="1">
                <a:solidFill>
                  <a:srgbClr val="64748B"/>
                </a:solidFill>
                <a:latin typeface="Calibri" panose="020F0502020204030204"/>
              </a:rPr>
              <a:t>1. Baseline DenseNet-121: </a:t>
            </a:r>
            <a:r>
              <a:rPr sz="1850">
                <a:solidFill>
                  <a:srgbClr val="1E293B"/>
                </a:solidFill>
                <a:latin typeface="Calibri" panose="020F0502020204030204"/>
              </a:rPr>
              <a:t>Acc 78.23%, bỏ sót tới 23.62% ca ác tính.</a:t>
            </a:r>
            <a:endParaRPr sz="1850">
              <a:solidFill>
                <a:srgbClr val="1E293B"/>
              </a:solidFill>
              <a:latin typeface="Calibri" panose="020F0502020204030204"/>
            </a:endParaRPr>
          </a:p>
          <a:p>
            <a:pPr>
              <a:spcAft>
                <a:spcPts val="1400"/>
              </a:spcAft>
            </a:pPr>
            <a:r>
              <a:rPr sz="1850" b="1">
                <a:solidFill>
                  <a:srgbClr val="0EA5E9"/>
                </a:solidFill>
                <a:latin typeface="Calibri" panose="020F0502020204030204"/>
              </a:rPr>
              <a:t>2. + CBAM &amp; Cost-Sensitive: </a:t>
            </a:r>
            <a:r>
              <a:rPr sz="1850">
                <a:solidFill>
                  <a:srgbClr val="1E293B"/>
                </a:solidFill>
                <a:latin typeface="Calibri" panose="020F0502020204030204"/>
              </a:rPr>
              <a:t>Acc tăng lên 83.52%, FNR giảm còn 16.87%.</a:t>
            </a:r>
            <a:endParaRPr sz="1850">
              <a:solidFill>
                <a:srgbClr val="1E293B"/>
              </a:solidFill>
              <a:latin typeface="Calibri" panose="020F0502020204030204"/>
            </a:endParaRPr>
          </a:p>
          <a:p>
            <a:pPr>
              <a:spcAft>
                <a:spcPts val="1400"/>
              </a:spcAft>
            </a:pPr>
            <a:r>
              <a:rPr sz="1850" b="1">
                <a:solidFill>
                  <a:srgbClr val="D97706"/>
                </a:solidFill>
                <a:latin typeface="Calibri" panose="020F0502020204030204"/>
              </a:rPr>
              <a:t>3. + Multimodal 18 Đặc trưng: </a:t>
            </a:r>
            <a:r>
              <a:rPr sz="1850">
                <a:solidFill>
                  <a:srgbClr val="1E293B"/>
                </a:solidFill>
                <a:latin typeface="Calibri" panose="020F0502020204030204"/>
              </a:rPr>
              <a:t>Sensitivity vọt lên 91.22%, FNR còn 8.78%.</a:t>
            </a:r>
            <a:endParaRPr sz="1850">
              <a:solidFill>
                <a:srgbClr val="1E293B"/>
              </a:solidFill>
              <a:latin typeface="Calibri" panose="020F0502020204030204"/>
            </a:endParaRPr>
          </a:p>
          <a:p>
            <a:pPr>
              <a:spcAft>
                <a:spcPts val="1400"/>
              </a:spcAft>
            </a:pPr>
            <a:r>
              <a:rPr sz="1850" b="1">
                <a:solidFill>
                  <a:srgbClr val="E11D48"/>
                </a:solidFill>
                <a:latin typeface="Calibri" panose="020F0502020204030204"/>
              </a:rPr>
              <a:t>4. Hợp Nhất SOTA Hybrid: </a:t>
            </a:r>
            <a:r>
              <a:rPr sz="1850">
                <a:solidFill>
                  <a:srgbClr val="1E293B"/>
                </a:solidFill>
                <a:latin typeface="Calibri" panose="020F0502020204030204"/>
              </a:rPr>
              <a:t>Acc 92.89%, Sensitivity 95.43%, FNR chỉ còn 4.57% (Giảm 5.2 lần tỷ lệ sót!).</a:t>
            </a:r>
            <a:endParaRPr sz="1850">
              <a:solidFill>
                <a:srgbClr val="1E293B"/>
              </a:solidFill>
              <a:latin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900"/>
    </mc:Choice>
    <mc:Fallback>
      <p:transition spd="med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!!header_bar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accent_line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header_title"/>
          <p:cNvSpPr txBox="1"/>
          <p:nvPr/>
        </p:nvSpPr>
        <p:spPr>
          <a:xfrm>
            <a:off x="1097280" y="292608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 panose="020F0502020204030204"/>
              </a:defRPr>
            </a:pPr>
            <a:r>
              <a:t>5. KẾT QUẢ THỰC NGHIỆM &amp; ĐÁNH GIÁ</a:t>
            </a:r>
          </a:p>
        </p:txBody>
      </p:sp>
      <p:sp>
        <p:nvSpPr>
          <p:cNvPr id="7" name="!!card_1"/>
          <p:cNvSpPr/>
          <p:nvPr/>
        </p:nvSpPr>
        <p:spPr>
          <a:xfrm>
            <a:off x="548640" y="1280160"/>
            <a:ext cx="5394960" cy="5166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card_1_stripe"/>
          <p:cNvSpPr/>
          <p:nvPr/>
        </p:nvSpPr>
        <p:spPr>
          <a:xfrm>
            <a:off x="548640" y="1280160"/>
            <a:ext cx="5394960" cy="82296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card_1_title"/>
          <p:cNvSpPr txBox="1"/>
          <p:nvPr/>
        </p:nvSpPr>
        <p:spPr>
          <a:xfrm>
            <a:off x="749808" y="1426463"/>
            <a:ext cx="49926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C59"/>
                </a:solidFill>
                <a:latin typeface="Calibri" panose="020F0502020204030204"/>
              </a:defRPr>
            </a:pPr>
            <a:r>
              <a:t>3 Ca Ác Tính Điển Hình (Dice 86.7% – 91.8%)</a:t>
            </a:r>
          </a:p>
        </p:txBody>
      </p:sp>
      <p:pic>
        <p:nvPicPr>
          <p:cNvPr id="10" name="!!hero_visual" descr="crop_test_malignan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230747"/>
            <a:ext cx="5120640" cy="3722384"/>
          </a:xfrm>
          <a:prstGeom prst="rect">
            <a:avLst/>
          </a:prstGeom>
        </p:spPr>
      </p:pic>
      <p:sp>
        <p:nvSpPr>
          <p:cNvPr id="11" name="!!card_2"/>
          <p:cNvSpPr/>
          <p:nvPr/>
        </p:nvSpPr>
        <p:spPr>
          <a:xfrm>
            <a:off x="6217920" y="1280160"/>
            <a:ext cx="5394960" cy="5166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card_2_stripe"/>
          <p:cNvSpPr/>
          <p:nvPr/>
        </p:nvSpPr>
        <p:spPr>
          <a:xfrm>
            <a:off x="6217920" y="1280160"/>
            <a:ext cx="5394960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card_2_title"/>
          <p:cNvSpPr txBox="1"/>
          <p:nvPr/>
        </p:nvSpPr>
        <p:spPr>
          <a:xfrm>
            <a:off x="6419088" y="1426463"/>
            <a:ext cx="49926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C59"/>
                </a:solidFill>
                <a:latin typeface="Calibri" panose="020F0502020204030204"/>
              </a:defRPr>
            </a:pPr>
            <a:r>
              <a:t>3 Ca Lành Tính Điển Hình (Dice 83.5% – 89.7%)</a:t>
            </a:r>
          </a:p>
        </p:txBody>
      </p:sp>
      <p:pic>
        <p:nvPicPr>
          <p:cNvPr id="14" name="!!hero_visual_2" descr="crop_test_ben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338215"/>
            <a:ext cx="5120640" cy="3507449"/>
          </a:xfrm>
          <a:prstGeom prst="rect">
            <a:avLst/>
          </a:prstGeom>
        </p:spPr>
      </p:pic>
      <p:pic>
        <p:nvPicPr>
          <p:cNvPr id="26" name="!!header_logo"/>
          <p:cNvPicPr>
            <a:picLocks noChangeAspect="1"/>
          </p:cNvPicPr>
          <p:nvPr/>
        </p:nvPicPr>
        <p:blipFill>
          <a:blip r:embed="rId3"/>
          <a:srcRect r="70407"/>
          <a:stretch>
            <a:fillRect/>
          </a:stretch>
        </p:blipFill>
        <p:spPr>
          <a:xfrm>
            <a:off x="184785" y="77470"/>
            <a:ext cx="807720" cy="8966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900"/>
    </mc:Choice>
    <mc:Fallback>
      <p:transition spd="med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!!header_bar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accent_line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header_title"/>
          <p:cNvSpPr txBox="1"/>
          <p:nvPr/>
        </p:nvSpPr>
        <p:spPr>
          <a:xfrm>
            <a:off x="1097280" y="292608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 panose="020F0502020204030204"/>
              </a:defRPr>
            </a:pPr>
            <a:r>
              <a:t>5. KẾT QUẢ THỰC NGHIỆM &amp; ĐÁNH GIÁ</a:t>
            </a:r>
          </a:p>
        </p:txBody>
      </p:sp>
      <p:pic>
        <p:nvPicPr>
          <p:cNvPr id="7" name="!!hero_visual" descr="illus_clinical_safet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20161"/>
            <a:ext cx="5394960" cy="4532077"/>
          </a:xfrm>
          <a:prstGeom prst="rect">
            <a:avLst/>
          </a:prstGeom>
        </p:spPr>
      </p:pic>
      <p:sp>
        <p:nvSpPr>
          <p:cNvPr id="8" name="!!card_1"/>
          <p:cNvSpPr/>
          <p:nvPr/>
        </p:nvSpPr>
        <p:spPr>
          <a:xfrm>
            <a:off x="6126480" y="1325880"/>
            <a:ext cx="5486400" cy="2423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card_1_stripe"/>
          <p:cNvSpPr/>
          <p:nvPr/>
        </p:nvSpPr>
        <p:spPr>
          <a:xfrm>
            <a:off x="6126480" y="1325880"/>
            <a:ext cx="5486400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card_1_title"/>
          <p:cNvSpPr txBox="1"/>
          <p:nvPr/>
        </p:nvSpPr>
        <p:spPr>
          <a:xfrm>
            <a:off x="6327648" y="1472184"/>
            <a:ext cx="508406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C59"/>
                </a:solidFill>
                <a:latin typeface="Calibri" panose="020F0502020204030204"/>
              </a:defRPr>
            </a:pPr>
            <a:r>
              <a:t>Điểm Mạnh &amp; Ý Nghĩa Lâm Sàng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96596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10B981"/>
                </a:solidFill>
                <a:latin typeface="Calibri" panose="020F0502020204030204"/>
              </a:rPr>
              <a:t>• Ưu tiên an toàn người bệnh: </a:t>
            </a:r>
            <a:r>
              <a:rPr sz="1800">
                <a:solidFill>
                  <a:srgbClr val="1E293B"/>
                </a:solidFill>
                <a:latin typeface="Calibri" panose="020F0502020204030204"/>
              </a:rPr>
              <a:t>Độ nhạy 95.43% giúp sàng lọc an toàn, hạn chế tối đa bỏ sót u.</a:t>
            </a:r>
            <a:endParaRPr sz="1800">
              <a:solidFill>
                <a:srgbClr val="1E293B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F2C59"/>
                </a:solidFill>
                <a:latin typeface="Calibri" panose="020F0502020204030204"/>
              </a:rPr>
              <a:t>• Đánh giá nghiêm ngặt: </a:t>
            </a:r>
            <a:r>
              <a:rPr sz="1800">
                <a:solidFill>
                  <a:srgbClr val="1E293B"/>
                </a:solidFill>
                <a:latin typeface="Calibri" panose="020F0502020204030204"/>
              </a:rPr>
              <a:t>Chia tập theo bệnh nhân, hoàn toàn không rò rỉ giữa Train/Val/Test.</a:t>
            </a:r>
            <a:endParaRPr sz="180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12" name="!!card_2"/>
          <p:cNvSpPr/>
          <p:nvPr/>
        </p:nvSpPr>
        <p:spPr>
          <a:xfrm>
            <a:off x="6126480" y="3977639"/>
            <a:ext cx="548640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card_2_stripe"/>
          <p:cNvSpPr/>
          <p:nvPr/>
        </p:nvSpPr>
        <p:spPr>
          <a:xfrm>
            <a:off x="6126480" y="3977639"/>
            <a:ext cx="5486400" cy="82296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card_2_title"/>
          <p:cNvSpPr txBox="1"/>
          <p:nvPr/>
        </p:nvSpPr>
        <p:spPr>
          <a:xfrm>
            <a:off x="6327648" y="4123944"/>
            <a:ext cx="508406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C59"/>
                </a:solidFill>
                <a:latin typeface="Calibri" panose="020F0502020204030204"/>
              </a:defRPr>
            </a:pPr>
            <a:r>
              <a:t>Hạn Chế &amp; Lưu Ý Khoa Học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617720"/>
            <a:ext cx="50292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E11D48"/>
                </a:solidFill>
                <a:latin typeface="Calibri" panose="020F0502020204030204"/>
              </a:rPr>
              <a:t>• Phụ thuộc 24 thuộc tính bác sĩ: </a:t>
            </a:r>
            <a:r>
              <a:rPr sz="1800">
                <a:solidFill>
                  <a:srgbClr val="1E293B"/>
                </a:solidFill>
                <a:latin typeface="Calibri" panose="020F0502020204030204"/>
              </a:rPr>
              <a:t>Khi triển khai thực tế chưa có bác sĩ đọc, cần dùng bản thuần ảnh.</a:t>
            </a:r>
            <a:endParaRPr sz="1800">
              <a:solidFill>
                <a:srgbClr val="1E293B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D97706"/>
                </a:solidFill>
                <a:latin typeface="Calibri" panose="020F0502020204030204"/>
              </a:rPr>
              <a:t>• Nhãn đồng thuận (Proxy Label): </a:t>
            </a:r>
            <a:r>
              <a:rPr sz="1800">
                <a:solidFill>
                  <a:srgbClr val="1E293B"/>
                </a:solidFill>
                <a:latin typeface="Calibri" panose="020F0502020204030204"/>
              </a:rPr>
              <a:t>Suy từ điểm chấm bác sĩ và làm việc trên lát cắt 2.5D.</a:t>
            </a:r>
            <a:endParaRPr sz="1800">
              <a:solidFill>
                <a:srgbClr val="1E293B"/>
              </a:solidFill>
              <a:latin typeface="Calibri" panose="020F0502020204030204"/>
            </a:endParaRPr>
          </a:p>
        </p:txBody>
      </p:sp>
      <p:pic>
        <p:nvPicPr>
          <p:cNvPr id="26" name="!!header_logo"/>
          <p:cNvPicPr>
            <a:picLocks noChangeAspect="1"/>
          </p:cNvPicPr>
          <p:nvPr/>
        </p:nvPicPr>
        <p:blipFill>
          <a:blip r:embed="rId2"/>
          <a:srcRect r="70407"/>
          <a:stretch>
            <a:fillRect/>
          </a:stretch>
        </p:blipFill>
        <p:spPr>
          <a:xfrm>
            <a:off x="184785" y="77470"/>
            <a:ext cx="807720" cy="8966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900"/>
    </mc:Choice>
    <mc:Fallback>
      <p:transition spd="med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!!header_bar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accent_line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header_title"/>
          <p:cNvSpPr txBox="1"/>
          <p:nvPr/>
        </p:nvSpPr>
        <p:spPr>
          <a:xfrm>
            <a:off x="1097280" y="292608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 panose="020F0502020204030204"/>
              </a:defRPr>
            </a:pPr>
            <a:r>
              <a:t>6. KẾT LUẬN &amp; HƯỚNG PHÁT TRIỂN</a:t>
            </a:r>
          </a:p>
        </p:txBody>
      </p:sp>
      <p:sp>
        <p:nvSpPr>
          <p:cNvPr id="7" name="!!card_1"/>
          <p:cNvSpPr/>
          <p:nvPr/>
        </p:nvSpPr>
        <p:spPr>
          <a:xfrm>
            <a:off x="548640" y="1325880"/>
            <a:ext cx="539496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card_1_stripe"/>
          <p:cNvSpPr/>
          <p:nvPr/>
        </p:nvSpPr>
        <p:spPr>
          <a:xfrm>
            <a:off x="548640" y="1325880"/>
            <a:ext cx="5394960" cy="82296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card_1_title"/>
          <p:cNvSpPr txBox="1"/>
          <p:nvPr/>
        </p:nvSpPr>
        <p:spPr>
          <a:xfrm>
            <a:off x="749808" y="1472184"/>
            <a:ext cx="49926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C59"/>
                </a:solidFill>
                <a:latin typeface="Calibri" panose="020F0502020204030204"/>
              </a:defRPr>
            </a:pPr>
            <a:r>
              <a:t>Kết Luận Chính Của Đề Tài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1">
                <a:solidFill>
                  <a:srgbClr val="0F2C59"/>
                </a:solidFill>
                <a:latin typeface="Calibri" panose="020F0502020204030204"/>
              </a:rPr>
              <a:t>✔ Hệ thống SOTA Lai hoàn chỉnh: </a:t>
            </a:r>
            <a:r>
              <a:rPr sz="1900">
                <a:solidFill>
                  <a:srgbClr val="1E293B"/>
                </a:solidFill>
                <a:latin typeface="Calibri" panose="020F0502020204030204"/>
              </a:rPr>
              <a:t>Kết hợp mạng đa tác vụ JointSegGatedDenseNet-121 &amp; Radiomics Ensemble.</a:t>
            </a:r>
            <a:endParaRPr sz="1900">
              <a:solidFill>
                <a:srgbClr val="1E293B"/>
              </a:solidFill>
              <a:latin typeface="Calibri" panose="020F0502020204030204"/>
            </a:endParaRP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E11D48"/>
                </a:solidFill>
                <a:latin typeface="Calibri" panose="020F0502020204030204"/>
              </a:rPr>
              <a:t>✔ Chẩn đoán chính xác &amp; an toàn: </a:t>
            </a:r>
            <a:r>
              <a:rPr sz="1900">
                <a:solidFill>
                  <a:srgbClr val="1E293B"/>
                </a:solidFill>
                <a:latin typeface="Calibri" panose="020F0502020204030204"/>
              </a:rPr>
              <a:t>Đạt Accuracy 92.89%, Sensitivity 95.43%, ROC-AUC 0.9827.</a:t>
            </a:r>
            <a:endParaRPr sz="1900">
              <a:solidFill>
                <a:srgbClr val="1E293B"/>
              </a:solidFill>
              <a:latin typeface="Calibri" panose="020F0502020204030204"/>
            </a:endParaRP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10B981"/>
                </a:solidFill>
                <a:latin typeface="Calibri" panose="020F0502020204030204"/>
              </a:rPr>
              <a:t>✔ Giảm 5.2 lần tỷ lệ bỏ sót: </a:t>
            </a:r>
            <a:r>
              <a:rPr sz="1900">
                <a:solidFill>
                  <a:srgbClr val="1E293B"/>
                </a:solidFill>
                <a:latin typeface="Calibri" panose="020F0502020204030204"/>
              </a:rPr>
              <a:t>Kéo FNR từ 23.62% xuống chỉ còn 4.57% trên 3.108 mẫu Test.</a:t>
            </a:r>
            <a:endParaRPr sz="1900">
              <a:solidFill>
                <a:srgbClr val="1E293B"/>
              </a:solidFill>
              <a:latin typeface="Calibri" panose="020F0502020204030204"/>
            </a:endParaRP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0EA5E9"/>
                </a:solidFill>
                <a:latin typeface="Calibri" panose="020F0502020204030204"/>
              </a:rPr>
              <a:t>✔ Khoanh vùng bám sát bờ u: </a:t>
            </a:r>
            <a:r>
              <a:rPr sz="1900">
                <a:solidFill>
                  <a:srgbClr val="1E293B"/>
                </a:solidFill>
                <a:latin typeface="Calibri" panose="020F0502020204030204"/>
              </a:rPr>
              <a:t>Mean Dice đạt 81.95% (Median 86.62%).</a:t>
            </a:r>
            <a:endParaRPr sz="190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11" name="!!card_2"/>
          <p:cNvSpPr/>
          <p:nvPr/>
        </p:nvSpPr>
        <p:spPr>
          <a:xfrm>
            <a:off x="6217920" y="1325880"/>
            <a:ext cx="539496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card_2_stripe"/>
          <p:cNvSpPr/>
          <p:nvPr/>
        </p:nvSpPr>
        <p:spPr>
          <a:xfrm>
            <a:off x="6217920" y="1325880"/>
            <a:ext cx="5394960" cy="8229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card_2_title"/>
          <p:cNvSpPr txBox="1"/>
          <p:nvPr/>
        </p:nvSpPr>
        <p:spPr>
          <a:xfrm>
            <a:off x="6419088" y="1472184"/>
            <a:ext cx="49926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C59"/>
                </a:solidFill>
                <a:latin typeface="Calibri" panose="020F0502020204030204"/>
              </a:defRPr>
            </a:pPr>
            <a:r>
              <a:t>Hướng Phát Triển Tiếp Theo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11680"/>
            <a:ext cx="4937760" cy="3553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1">
                <a:solidFill>
                  <a:srgbClr val="0EA5E9"/>
                </a:solidFill>
                <a:latin typeface="Calibri" panose="020F0502020204030204"/>
              </a:rPr>
              <a:t>Chế độ 'Zero-Annotation': </a:t>
            </a:r>
            <a:r>
              <a:rPr sz="1900">
                <a:solidFill>
                  <a:srgbClr val="1E293B"/>
                </a:solidFill>
                <a:latin typeface="Calibri" panose="020F0502020204030204"/>
              </a:rPr>
              <a:t>Loại bỏ 24 thuộc tính bác sĩ, trích xuất đặc trưng từ mặt nạ AI tự dự đoán.</a:t>
            </a:r>
            <a:endParaRPr sz="1900">
              <a:solidFill>
                <a:srgbClr val="1E293B"/>
              </a:solidFill>
              <a:latin typeface="Calibri" panose="020F0502020204030204"/>
            </a:endParaRP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0F2C59"/>
                </a:solidFill>
                <a:latin typeface="Calibri" panose="020F0502020204030204"/>
              </a:rPr>
              <a:t>Mở rộng kiến trúc 3D Thể tích: </a:t>
            </a:r>
            <a:r>
              <a:rPr sz="1900">
                <a:solidFill>
                  <a:srgbClr val="1E293B"/>
                </a:solidFill>
                <a:latin typeface="Calibri" panose="020F0502020204030204"/>
              </a:rPr>
              <a:t>Ứng dụng 3D Swin UNETR / 3D CNN khai thác liên tục trục z.</a:t>
            </a:r>
            <a:endParaRPr sz="1900">
              <a:solidFill>
                <a:srgbClr val="1E293B"/>
              </a:solidFill>
              <a:latin typeface="Calibri" panose="020F0502020204030204"/>
            </a:endParaRP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D97706"/>
                </a:solidFill>
                <a:latin typeface="Calibri" panose="020F0502020204030204"/>
              </a:rPr>
              <a:t>AI Giải thích được (XAI): </a:t>
            </a:r>
            <a:r>
              <a:rPr sz="1900">
                <a:solidFill>
                  <a:srgbClr val="1E293B"/>
                </a:solidFill>
                <a:latin typeface="Calibri" panose="020F0502020204030204"/>
              </a:rPr>
              <a:t>Tích hợp bản đồ nhiệt Grad-CAM &amp; SHAP giải thích lý do ác tính.</a:t>
            </a:r>
            <a:endParaRPr sz="1900">
              <a:solidFill>
                <a:srgbClr val="1E293B"/>
              </a:solidFill>
              <a:latin typeface="Calibri" panose="020F0502020204030204"/>
            </a:endParaRP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10B981"/>
                </a:solidFill>
                <a:latin typeface="Calibri" panose="020F0502020204030204"/>
              </a:rPr>
              <a:t>Kiểm chứng lâm sàng ngoài: </a:t>
            </a:r>
            <a:r>
              <a:rPr sz="1900">
                <a:solidFill>
                  <a:srgbClr val="1E293B"/>
                </a:solidFill>
                <a:latin typeface="Calibri" panose="020F0502020204030204"/>
              </a:rPr>
              <a:t>Thử nghiệm đa trung tâm và tích hợp chuẩn PACS/DICOM bệnh viện.</a:t>
            </a:r>
            <a:endParaRPr sz="1900">
              <a:solidFill>
                <a:srgbClr val="1E293B"/>
              </a:solidFill>
              <a:latin typeface="Calibri" panose="020F0502020204030204"/>
            </a:endParaRPr>
          </a:p>
        </p:txBody>
      </p:sp>
      <p:pic>
        <p:nvPicPr>
          <p:cNvPr id="26" name="!!header_logo"/>
          <p:cNvPicPr>
            <a:picLocks noChangeAspect="1"/>
          </p:cNvPicPr>
          <p:nvPr/>
        </p:nvPicPr>
        <p:blipFill>
          <a:blip r:embed="rId1"/>
          <a:srcRect r="70407"/>
          <a:stretch>
            <a:fillRect/>
          </a:stretch>
        </p:blipFill>
        <p:spPr>
          <a:xfrm>
            <a:off x="184785" y="77470"/>
            <a:ext cx="807720" cy="8966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900"/>
    </mc:Choice>
    <mc:Fallback>
      <p:transition spd="med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!!header_bar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7498079" y="0"/>
            <a:ext cx="4693615" cy="6858000"/>
          </a:xfrm>
          <a:prstGeom prst="rtTriangle">
            <a:avLst/>
          </a:prstGeom>
          <a:solidFill>
            <a:srgbClr val="0A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header_title"/>
          <p:cNvSpPr txBox="1"/>
          <p:nvPr/>
        </p:nvSpPr>
        <p:spPr>
          <a:xfrm>
            <a:off x="1097280" y="2560320"/>
            <a:ext cx="9997135" cy="1737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  <a:defRPr sz="4400" b="1">
                <a:solidFill>
                  <a:srgbClr val="0EA5E9"/>
                </a:solidFill>
                <a:latin typeface="Calibri" panose="020F0502020204030204"/>
              </a:defRPr>
            </a:pPr>
            <a:r>
              <a:rPr sz="6000"/>
              <a:t>XIN CHÂN THÀNH CẢM ƠN!</a:t>
            </a:r>
            <a:endParaRPr sz="6000"/>
          </a:p>
          <a:p>
            <a:pPr algn="ctr">
              <a:defRPr sz="2200" b="1">
                <a:solidFill>
                  <a:srgbClr val="FFFFFF"/>
                </a:solidFill>
                <a:latin typeface="Calibri" panose="020F0502020204030204"/>
              </a:defRPr>
            </a:pPr>
            <a:r>
              <a:rPr sz="3200"/>
              <a:t>Cảm ơn </a:t>
            </a:r>
            <a:r>
              <a:rPr lang="en-US" sz="3200"/>
              <a:t>cô</a:t>
            </a:r>
            <a:r>
              <a:rPr sz="3200"/>
              <a:t> và các bạn đã chú ý lắng nghe!</a:t>
            </a:r>
            <a:endParaRPr sz="3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1000"/>
    </mc:Choice>
    <mc:Fallback>
      <p:transition spd="med"/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417.25,&quot;left&quot;:86.4,&quot;top&quot;:106.55,&quot;width&quot;:788.9}"/>
</p:tagLst>
</file>

<file path=ppt/tags/tag2.xml><?xml version="1.0" encoding="utf-8"?>
<p:tagLst xmlns:p="http://schemas.openxmlformats.org/presentationml/2006/main">
  <p:tag name="KSO_WM_DIAGRAM_VIRTUALLY_FRAME" val="{&quot;height&quot;:417.25,&quot;left&quot;:86.4,&quot;top&quot;:106.55,&quot;width&quot;:788.9}"/>
</p:tagLst>
</file>

<file path=ppt/tags/tag3.xml><?xml version="1.0" encoding="utf-8"?>
<p:tagLst xmlns:p="http://schemas.openxmlformats.org/presentationml/2006/main">
  <p:tag name="KSO_WM_DIAGRAM_VIRTUALLY_FRAME" val="{&quot;height&quot;:417.25,&quot;left&quot;:86.4,&quot;top&quot;:106.55,&quot;width&quot;:788.9}"/>
</p:tagLst>
</file>

<file path=ppt/tags/tag4.xml><?xml version="1.0" encoding="utf-8"?>
<p:tagLst xmlns:p="http://schemas.openxmlformats.org/presentationml/2006/main">
  <p:tag name="KSO_WM_DIAGRAM_VIRTUALLY_FRAME" val="{&quot;height&quot;:417.25,&quot;left&quot;:86.4,&quot;top&quot;:106.55,&quot;width&quot;:788.9}"/>
</p:tagLst>
</file>

<file path=ppt/tags/tag5.xml><?xml version="1.0" encoding="utf-8"?>
<p:tagLst xmlns:p="http://schemas.openxmlformats.org/presentationml/2006/main">
  <p:tag name="KSO_WM_DIAGRAM_VIRTUALLY_FRAME" val="{&quot;height&quot;:417.25,&quot;left&quot;:86.4,&quot;top&quot;:106.55,&quot;width&quot;:788.9}"/>
</p:tagLst>
</file>

<file path=ppt/tags/tag6.xml><?xml version="1.0" encoding="utf-8"?>
<p:tagLst xmlns:p="http://schemas.openxmlformats.org/presentationml/2006/main">
  <p:tag name="KSO_WM_DIAGRAM_VIRTUALLY_FRAME" val="{&quot;height&quot;:417.25,&quot;left&quot;:86.4,&quot;top&quot;:106.55,&quot;width&quot;:788.9}"/>
</p:tagLst>
</file>

<file path=ppt/tags/tag7.xml><?xml version="1.0" encoding="utf-8"?>
<p:tagLst xmlns:p="http://schemas.openxmlformats.org/presentationml/2006/main">
  <p:tag name="KSO_WM_DIAGRAM_VIRTUALLY_FRAME" val="{&quot;height&quot;:417.25,&quot;left&quot;:86.4,&quot;top&quot;:106.55,&quot;width&quot;:788.9}"/>
</p:tagLst>
</file>

<file path=ppt/tags/tag8.xml><?xml version="1.0" encoding="utf-8"?>
<p:tagLst xmlns:p="http://schemas.openxmlformats.org/presentationml/2006/main">
  <p:tag name="KSO_WM_DIAGRAM_VIRTUALLY_FRAME" val="{&quot;height&quot;:417.25,&quot;left&quot;:86.4,&quot;top&quot;:106.55,&quot;width&quot;:788.9}"/>
</p:tagLst>
</file>

<file path=ppt/tags/tag9.xml><?xml version="1.0" encoding="utf-8"?>
<p:tagLst xmlns:p="http://schemas.openxmlformats.org/presentationml/2006/main">
  <p:tag name="KSO_WM_DIAGRAM_VIRTUALLY_FRAME" val="{&quot;height&quot;:417.25,&quot;left&quot;:86.4,&quot;top&quot;:106.55,&quot;width&quot;:788.9}"/>
</p:tagLst>
</file>

<file path=ppt/tags/tag10.xml><?xml version="1.0" encoding="utf-8"?>
<p:tagLst xmlns:p="http://schemas.openxmlformats.org/presentationml/2006/main">
  <p:tag name="KSO_WM_DIAGRAM_VIRTUALLY_FRAME" val="{&quot;height&quot;:417.25,&quot;left&quot;:86.4,&quot;top&quot;:106.55,&quot;width&quot;:788.9}"/>
</p:tagLst>
</file>

<file path=ppt/tags/tag11.xml><?xml version="1.0" encoding="utf-8"?>
<p:tagLst xmlns:p="http://schemas.openxmlformats.org/presentationml/2006/main">
  <p:tag name="KSO_WM_DIAGRAM_VIRTUALLY_FRAME" val="{&quot;height&quot;:417.25,&quot;left&quot;:86.4,&quot;top&quot;:106.55,&quot;width&quot;:788.9}"/>
</p:tagLst>
</file>

<file path=ppt/tags/tag12.xml><?xml version="1.0" encoding="utf-8"?>
<p:tagLst xmlns:p="http://schemas.openxmlformats.org/presentationml/2006/main">
  <p:tag name="KSO_WM_DIAGRAM_VIRTUALLY_FRAME" val="{&quot;height&quot;:417.25,&quot;left&quot;:86.4,&quot;top&quot;:106.55,&quot;width&quot;:788.9}"/>
</p:tagLst>
</file>

<file path=ppt/tags/tag13.xml><?xml version="1.0" encoding="utf-8"?>
<p:tagLst xmlns:p="http://schemas.openxmlformats.org/presentationml/2006/main">
  <p:tag name="KSO_WM_DIAGRAM_VIRTUALLY_FRAME" val="{&quot;height&quot;:417.25,&quot;left&quot;:86.4,&quot;top&quot;:106.55,&quot;width&quot;:788.9}"/>
</p:tagLst>
</file>

<file path=ppt/tags/tag14.xml><?xml version="1.0" encoding="utf-8"?>
<p:tagLst xmlns:p="http://schemas.openxmlformats.org/presentationml/2006/main">
  <p:tag name="KSO_WM_DIAGRAM_VIRTUALLY_FRAME" val="{&quot;height&quot;:417.25,&quot;left&quot;:86.4,&quot;top&quot;:106.55,&quot;width&quot;:788.9}"/>
</p:tagLst>
</file>

<file path=ppt/tags/tag15.xml><?xml version="1.0" encoding="utf-8"?>
<p:tagLst xmlns:p="http://schemas.openxmlformats.org/presentationml/2006/main">
  <p:tag name="KSO_WM_DIAGRAM_VIRTUALLY_FRAME" val="{&quot;height&quot;:417.25,&quot;left&quot;:86.4,&quot;top&quot;:106.55,&quot;width&quot;:788.9}"/>
</p:tagLst>
</file>

<file path=ppt/tags/tag16.xml><?xml version="1.0" encoding="utf-8"?>
<p:tagLst xmlns:p="http://schemas.openxmlformats.org/presentationml/2006/main">
  <p:tag name="KSO_WM_DIAGRAM_VIRTUALLY_FRAME" val="{&quot;height&quot;:417.25,&quot;left&quot;:86.4,&quot;top&quot;:106.55,&quot;width&quot;:788.9}"/>
</p:tagLst>
</file>

<file path=ppt/tags/tag17.xml><?xml version="1.0" encoding="utf-8"?>
<p:tagLst xmlns:p="http://schemas.openxmlformats.org/presentationml/2006/main">
  <p:tag name="KSO_WM_DIAGRAM_VIRTUALLY_FRAME" val="{&quot;height&quot;:417.25,&quot;left&quot;:86.4,&quot;top&quot;:106.55,&quot;width&quot;:788.9}"/>
</p:tagLst>
</file>

<file path=ppt/tags/tag18.xml><?xml version="1.0" encoding="utf-8"?>
<p:tagLst xmlns:p="http://schemas.openxmlformats.org/presentationml/2006/main">
  <p:tag name="KSO_WM_DIAGRAM_VIRTUALLY_FRAME" val="{&quot;height&quot;:417.25,&quot;left&quot;:86.4,&quot;top&quot;:106.55,&quot;width&quot;:788.9}"/>
</p:tagLst>
</file>

<file path=ppt/tags/tag19.xml><?xml version="1.0" encoding="utf-8"?>
<p:tagLst xmlns:p="http://schemas.openxmlformats.org/presentationml/2006/main">
  <p:tag name="KSO_WM_DIAGRAM_VIRTUALLY_FRAME" val="{&quot;height&quot;:417.25,&quot;left&quot;:86.4,&quot;top&quot;:106.55,&quot;width&quot;:788.9}"/>
</p:tagLst>
</file>

<file path=ppt/tags/tag20.xml><?xml version="1.0" encoding="utf-8"?>
<p:tagLst xmlns:p="http://schemas.openxmlformats.org/presentationml/2006/main">
  <p:tag name="KSO_WM_DIAGRAM_VIRTUALLY_FRAME" val="{&quot;height&quot;:417.25,&quot;left&quot;:86.4,&quot;top&quot;:106.55,&quot;width&quot;:788.9}"/>
</p:tagLst>
</file>

<file path=ppt/tags/tag21.xml><?xml version="1.0" encoding="utf-8"?>
<p:tagLst xmlns:p="http://schemas.openxmlformats.org/presentationml/2006/main">
  <p:tag name="KSO_WM_DIAGRAM_VIRTUALLY_FRAME" val="{&quot;height&quot;:396,&quot;left&quot;:57.6,&quot;top&quot;:108,&quot;width&quot;:842.4}"/>
</p:tagLst>
</file>

<file path=ppt/tags/tag22.xml><?xml version="1.0" encoding="utf-8"?>
<p:tagLst xmlns:p="http://schemas.openxmlformats.org/presentationml/2006/main">
  <p:tag name="KSO_WM_DIAGRAM_VIRTUALLY_FRAME" val="{&quot;height&quot;:396,&quot;left&quot;:57.6,&quot;top&quot;:108,&quot;width&quot;:842.4}"/>
</p:tagLst>
</file>

<file path=ppt/tags/tag23.xml><?xml version="1.0" encoding="utf-8"?>
<p:tagLst xmlns:p="http://schemas.openxmlformats.org/presentationml/2006/main">
  <p:tag name="KSO_WM_DIAGRAM_VIRTUALLY_FRAME" val="{&quot;height&quot;:396,&quot;left&quot;:57.6,&quot;top&quot;:108,&quot;width&quot;:842.4}"/>
</p:tagLst>
</file>

<file path=ppt/tags/tag24.xml><?xml version="1.0" encoding="utf-8"?>
<p:tagLst xmlns:p="http://schemas.openxmlformats.org/presentationml/2006/main">
  <p:tag name="KSO_WM_DIAGRAM_VIRTUALLY_FRAME" val="{&quot;height&quot;:207.8,&quot;left&quot;:43.2,&quot;top&quot;:309.6,&quot;width&quot;:872.64}"/>
</p:tagLst>
</file>

<file path=ppt/tags/tag25.xml><?xml version="1.0" encoding="utf-8"?>
<p:tagLst xmlns:p="http://schemas.openxmlformats.org/presentationml/2006/main">
  <p:tag name="KSO_WM_DIAGRAM_VIRTUALLY_FRAME" val="{&quot;height&quot;:207.8,&quot;left&quot;:43.2,&quot;top&quot;:309.6,&quot;width&quot;:872.64}"/>
</p:tagLst>
</file>

<file path=ppt/tags/tag26.xml><?xml version="1.0" encoding="utf-8"?>
<p:tagLst xmlns:p="http://schemas.openxmlformats.org/presentationml/2006/main">
  <p:tag name="KSO_WM_DIAGRAM_VIRTUALLY_FRAME" val="{&quot;height&quot;:207.8,&quot;left&quot;:43.2,&quot;top&quot;:309.6,&quot;width&quot;:872.64}"/>
</p:tagLst>
</file>

<file path=ppt/tags/tag27.xml><?xml version="1.0" encoding="utf-8"?>
<p:tagLst xmlns:p="http://schemas.openxmlformats.org/presentationml/2006/main">
  <p:tag name="KSO_WM_DIAGRAM_VIRTUALLY_FRAME" val="{&quot;height&quot;:207.8,&quot;left&quot;:43.2,&quot;top&quot;:309.6,&quot;width&quot;:872.64}"/>
</p:tagLst>
</file>

<file path=ppt/tags/tag28.xml><?xml version="1.0" encoding="utf-8"?>
<p:tagLst xmlns:p="http://schemas.openxmlformats.org/presentationml/2006/main">
  <p:tag name="KSO_WM_DIAGRAM_VIRTUALLY_FRAME" val="{&quot;height&quot;:207.8,&quot;left&quot;:43.2,&quot;top&quot;:309.6,&quot;width&quot;:872.64}"/>
</p:tagLst>
</file>

<file path=ppt/tags/tag29.xml><?xml version="1.0" encoding="utf-8"?>
<p:tagLst xmlns:p="http://schemas.openxmlformats.org/presentationml/2006/main">
  <p:tag name="KSO_WM_DIAGRAM_VIRTUALLY_FRAME" val="{&quot;height&quot;:207.8,&quot;left&quot;:43.2,&quot;top&quot;:309.6,&quot;width&quot;:872.64}"/>
</p:tagLst>
</file>

<file path=ppt/tags/tag30.xml><?xml version="1.0" encoding="utf-8"?>
<p:tagLst xmlns:p="http://schemas.openxmlformats.org/presentationml/2006/main">
  <p:tag name="KSO_WM_DIAGRAM_VIRTUALLY_FRAME" val="{&quot;height&quot;:207.8,&quot;left&quot;:43.2,&quot;top&quot;:309.6,&quot;width&quot;:872.64}"/>
</p:tagLst>
</file>

<file path=ppt/tags/tag31.xml><?xml version="1.0" encoding="utf-8"?>
<p:tagLst xmlns:p="http://schemas.openxmlformats.org/presentationml/2006/main">
  <p:tag name="KSO_WM_DIAGRAM_VIRTUALLY_FRAME" val="{&quot;height&quot;:207.8,&quot;left&quot;:43.2,&quot;top&quot;:309.6,&quot;width&quot;:872.64}"/>
</p:tagLst>
</file>

<file path=ppt/tags/tag32.xml><?xml version="1.0" encoding="utf-8"?>
<p:tagLst xmlns:p="http://schemas.openxmlformats.org/presentationml/2006/main">
  <p:tag name="KSO_WM_DIAGRAM_VIRTUALLY_FRAME" val="{&quot;height&quot;:207.8,&quot;left&quot;:43.2,&quot;top&quot;:309.6,&quot;width&quot;:872.64}"/>
</p:tagLst>
</file>

<file path=ppt/tags/tag33.xml><?xml version="1.0" encoding="utf-8"?>
<p:tagLst xmlns:p="http://schemas.openxmlformats.org/presentationml/2006/main">
  <p:tag name="KSO_WM_DIAGRAM_VIRTUALLY_FRAME" val="{&quot;height&quot;:207.8,&quot;left&quot;:43.2,&quot;top&quot;:309.6,&quot;width&quot;:872.64}"/>
</p:tagLst>
</file>

<file path=ppt/tags/tag34.xml><?xml version="1.0" encoding="utf-8"?>
<p:tagLst xmlns:p="http://schemas.openxmlformats.org/presentationml/2006/main">
  <p:tag name="KSO_WM_DIAGRAM_VIRTUALLY_FRAME" val="{&quot;height&quot;:207.8,&quot;left&quot;:43.2,&quot;top&quot;:309.6,&quot;width&quot;:872.64}"/>
</p:tagLst>
</file>

<file path=ppt/tags/tag35.xml><?xml version="1.0" encoding="utf-8"?>
<p:tagLst xmlns:p="http://schemas.openxmlformats.org/presentationml/2006/main">
  <p:tag name="KSO_WM_DIAGRAM_VIRTUALLY_FRAME" val="{&quot;height&quot;:207.8,&quot;left&quot;:43.2,&quot;top&quot;:309.6,&quot;width&quot;:872.64}"/>
</p:tagLst>
</file>

<file path=ppt/tags/tag36.xml><?xml version="1.0" encoding="utf-8"?>
<p:tagLst xmlns:p="http://schemas.openxmlformats.org/presentationml/2006/main">
  <p:tag name="KSO_WM_DIAGRAM_VIRTUALLY_FRAME" val="{&quot;height&quot;:207.8,&quot;left&quot;:43.2,&quot;top&quot;:309.6,&quot;width&quot;:872.64}"/>
</p:tagLst>
</file>

<file path=ppt/tags/tag37.xml><?xml version="1.0" encoding="utf-8"?>
<p:tagLst xmlns:p="http://schemas.openxmlformats.org/presentationml/2006/main">
  <p:tag name="KSO_WM_DIAGRAM_VIRTUALLY_FRAME" val="{&quot;height&quot;:207.8,&quot;left&quot;:43.2,&quot;top&quot;:309.6,&quot;width&quot;:872.64}"/>
</p:tagLst>
</file>

<file path=ppt/tags/tag38.xml><?xml version="1.0" encoding="utf-8"?>
<p:tagLst xmlns:p="http://schemas.openxmlformats.org/presentationml/2006/main">
  <p:tag name="KSO_WM_DIAGRAM_VIRTUALLY_FRAME" val="{&quot;height&quot;:207.8,&quot;left&quot;:43.2,&quot;top&quot;:309.6,&quot;width&quot;:872.64}"/>
</p:tagLst>
</file>

<file path=ppt/tags/tag39.xml><?xml version="1.0" encoding="utf-8"?>
<p:tagLst xmlns:p="http://schemas.openxmlformats.org/presentationml/2006/main">
  <p:tag name="KSO_WM_DIAGRAM_VIRTUALLY_FRAME" val="{&quot;height&quot;:207.8,&quot;left&quot;:43.2,&quot;top&quot;:309.6,&quot;width&quot;:872.64}"/>
</p:tagLst>
</file>

<file path=ppt/tags/tag40.xml><?xml version="1.0" encoding="utf-8"?>
<p:tagLst xmlns:p="http://schemas.openxmlformats.org/presentationml/2006/main">
  <p:tag name="KSO_WM_DIAGRAM_VIRTUALLY_FRAME" val="{&quot;height&quot;:207.8,&quot;left&quot;:43.2,&quot;top&quot;:309.6,&quot;width&quot;:872.64}"/>
</p:tagLst>
</file>

<file path=ppt/tags/tag41.xml><?xml version="1.0" encoding="utf-8"?>
<p:tagLst xmlns:p="http://schemas.openxmlformats.org/presentationml/2006/main">
  <p:tag name="KSO_WM_DIAGRAM_VIRTUALLY_FRAME" val="{&quot;height&quot;:207.8,&quot;left&quot;:43.2,&quot;top&quot;:309.6,&quot;width&quot;:872.64}"/>
</p:tagLst>
</file>

<file path=ppt/tags/tag42.xml><?xml version="1.0" encoding="utf-8"?>
<p:tagLst xmlns:p="http://schemas.openxmlformats.org/presentationml/2006/main">
  <p:tag name="KSO_WM_DIAGRAM_VIRTUALLY_FRAME" val="{&quot;height&quot;:207.8,&quot;left&quot;:43.2,&quot;top&quot;:309.6,&quot;width&quot;:872.64}"/>
</p:tagLst>
</file>

<file path=ppt/tags/tag43.xml><?xml version="1.0" encoding="utf-8"?>
<p:tagLst xmlns:p="http://schemas.openxmlformats.org/presentationml/2006/main">
  <p:tag name="KSO_WM_DIAGRAM_VIRTUALLY_FRAME" val="{&quot;height&quot;:207.8,&quot;left&quot;:43.2,&quot;top&quot;:309.6,&quot;width&quot;:872.6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8736</Words>
  <Application>WPS Presentation</Application>
  <PresentationFormat>On-screen Show (4:3)</PresentationFormat>
  <Paragraphs>297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2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tun tun</cp:lastModifiedBy>
  <cp:revision>4</cp:revision>
  <dcterms:created xsi:type="dcterms:W3CDTF">2013-01-27T09:14:00Z</dcterms:created>
  <dcterms:modified xsi:type="dcterms:W3CDTF">2026-10-28T09:44:11Z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0CAFDDDEB2AA44FDA2990434F50FB464_12</vt:lpwstr>
  </property>
  <property fmtid="{D5CDD505-2E9C-101B-9397-08002B2CF9AE}" pid="3" name="KSOProductBuildVer">
    <vt:lpwstr>2057-12.2.0.23206</vt:lpwstr>
  </property>
</Properties>
</file>